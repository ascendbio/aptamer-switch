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[12s · 0:12 of 4:36]</a:t>
            </a:r>
          </a:p>
          <a:p/>
          <a:p>
            <a:r>
              <a:t>Continuous cytokine sensing. We design the aptamer switches, not the electronics. Three targets, IL-6 first because it is the hardest.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[28s · 0:40 of 4:36]</a:t>
            </a:r>
          </a:p>
          <a:p/>
          <a:p>
            <a:r>
              <a:t>The key idea, and the one thing to land: an E-AB sensor reports a SHAPE CHANGE, not binding. A perfect binder that never moves gives no signal. So we take a published binder and destabilise it by a precise amount — and the usable window is narrower than the folding model's error bar. That tension drives every decision after this.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[20s · 1:00 of 4:36]</a:t>
            </a:r>
          </a:p>
          <a:p/>
          <a:p>
            <a:r>
              <a:t>One input: a biomarker name. Eight tools, agent picks the order. Point at find_parents and build_hedged_plate — those are the two that matter. Say it can refuse: no published parent, no plate.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[18s · 1:18 of 4:36]</a:t>
            </a:r>
          </a:p>
          <a:p/>
          <a:p>
            <a:r>
              <a:t>We grep full text for SEQUENCES, not rank papers by topic. Each hit carries the words printed around it, so the agent can see it is about to design against the receptor instead of the ligand. It caught exactly that. Zero borrowed affinities — an earlier version borrowed a Kd from an anti-IL-6-RECEPTOR aptamer and produced a column of confident wrong numbers.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[16s · 1:34 of 4:36]</a:t>
            </a:r>
          </a:p>
          <a:p/>
          <a:p>
            <a:r>
              <a:t>8,577 enumerated, not sampled. Filters run BEFORE tiling — tiling first leaves holes wherever a band held only dimerising designs, and the plate stops covering the range it claims 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[26s · 2:00 of 4:36]</a:t>
            </a:r>
          </a:p>
          <a:p/>
          <a:p>
            <a:r>
              <a:t>Why we do not ship a top-96 list. Ranked, you get 96 near-identical sequences and one bit of information; if the model centre is off by one kcal/mol they all fail together. Tiling returns the SHAPE of the response even when the prediction is wrong. Position randomised against energy, checked against a permutation null.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[40s · 2:40 of 4:36]</a:t>
            </a:r>
          </a:p>
          <a:p/>
          <a:p>
            <a:r>
              <a:t>The slide to slow down on. No paper maps where IL-6 touches this aptamer, so every energy rests on an assumed binding core. We swept it. Two of four cores give a plate at all, and ZERO designs survive every core — our plate was an artefact of an assumption we cannot check. Then say the hard part: 'do not order' is not an answer. A lab has a budget and a synthesis slot.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[34s · 3:14 of 4:36]</a:t>
            </a:r>
          </a:p>
          <a:p/>
          <a:p>
            <a:r>
              <a:t>So spend the plate on the uncertainty. 44 wells per core hypothesis, 8 shared controls, every well labelled. Read it twice: which switches work, and which core was right. A hypothesis with no responsive well is eliminated — the epitope question answered by a synthesis run that was happening anyway. Randomised against hypothesis, not blocked by row, or a warm corner of the plate becomes your result.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[40s · 3:54 of 4:36]</a:t>
            </a:r>
          </a:p>
          <a:p/>
          <a:p>
            <a:r>
              <a:t>The loop closes. Upload the plate reader CSV, it is read before anything is designed. On this plate one core responded 40 of 44, the other 5 of 44 — epitope settled in one round. Window recentres on the MEASURED optimum. Then the important half: on a pure-noise plate it reports p=0.26 and refuses to move. A tool that finds signal in noise is worse than no tool. Say the data on screen is simulated — it is labelled on the figure.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[20s · 4:14 of 4:36]</a:t>
            </a:r>
          </a:p>
          <a:p/>
          <a:p>
            <a:r>
              <a:t>Three external models we tried and threw away, each against a control. OpenDDE: the SCRAMBLED aptamer scored higher, so the contacts cannot define a core. Evo2: it prefers repetitive DNA, not aptamers. We report these because a tool that only lists what it used looks more certain than it 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[14s · 4:28 of 4:36]</a:t>
            </a:r>
          </a:p>
          <a:p/>
          <a:p>
            <a:r>
              <a:t>Limits, said before anyone asks. Cannot invent an aptamer. Cannot predict affinity. Cannot reach healthy baseline — IL-6 circulates at pg/mL, aptamer Kd is nanomolar, and switching costs more affinity on top. This class reaches sepsis and CRS, and the memo says so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[8s · 4:36 of 4:36]</a:t>
            </a:r>
          </a:p>
          <a:p/>
          <a:p>
            <a:r>
              <a:t>Every run archives a manifest: parent, citation, thresholds, the assumption, the commit. Close on the hedged plate as the deliverable.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1828800"/>
            <a:ext cx="10911535" cy="365760"/>
          </a:xfrm>
          <a:prstGeom prst="rect">
            <a:avLst/>
          </a:prstGeom>
          <a:noFill/>
        </p:spPr>
        <p:txBody>
          <a:bodyPr wrap="square" lIns="0" rIns="0" tIns="0" bIns="0">
            <a:spAutoFit/>
          </a:bodyPr>
          <a:lstStyle/>
          <a:p>
            <a:pPr algn="l">
              <a:lnSpc>
                <a:spcPct val="125000"/>
              </a:lnSpc>
              <a:spcAft>
                <a:spcPts val="800"/>
              </a:spcAft>
            </a:pPr>
            <a:r>
              <a:rPr sz="1300" b="1">
                <a:solidFill>
                  <a:srgbClr val="2F5CE5"/>
                </a:solidFill>
                <a:latin typeface="Helvetica Neue"/>
              </a:rPr>
              <a:t>re:AGENT · TRACK C · BIO DESIGN</a:t>
            </a:r>
          </a:p>
        </p:txBody>
      </p:sp>
      <p:sp>
        <p:nvSpPr>
          <p:cNvPr id="3" name="TextBox 2"/>
          <p:cNvSpPr txBox="1"/>
          <p:nvPr/>
        </p:nvSpPr>
        <p:spPr>
          <a:xfrm>
            <a:off x="640080" y="2286000"/>
            <a:ext cx="9601200" cy="1280160"/>
          </a:xfrm>
          <a:prstGeom prst="rect">
            <a:avLst/>
          </a:prstGeom>
          <a:noFill/>
        </p:spPr>
        <p:txBody>
          <a:bodyPr wrap="square" lIns="0" rIns="0" tIns="0" bIns="0">
            <a:spAutoFit/>
          </a:bodyPr>
          <a:lstStyle/>
          <a:p>
            <a:pPr algn="l">
              <a:lnSpc>
                <a:spcPct val="105000"/>
              </a:lnSpc>
              <a:spcAft>
                <a:spcPts val="800"/>
              </a:spcAft>
            </a:pPr>
            <a:r>
              <a:rPr sz="4600" b="1">
                <a:solidFill>
                  <a:srgbClr val="1A1A1E"/>
                </a:solidFill>
                <a:latin typeface="Helvetica Neue"/>
              </a:rPr>
              <a:t>An agent that designs aptamer switches</a:t>
            </a:r>
          </a:p>
        </p:txBody>
      </p:sp>
      <p:sp>
        <p:nvSpPr>
          <p:cNvPr id="4" name="TextBox 3"/>
          <p:cNvSpPr txBox="1"/>
          <p:nvPr/>
        </p:nvSpPr>
        <p:spPr>
          <a:xfrm>
            <a:off x="640080" y="3566160"/>
            <a:ext cx="9601200" cy="914400"/>
          </a:xfrm>
          <a:prstGeom prst="rect">
            <a:avLst/>
          </a:prstGeom>
          <a:noFill/>
        </p:spPr>
        <p:txBody>
          <a:bodyPr wrap="square" lIns="0" rIns="0" tIns="0" bIns="0">
            <a:spAutoFit/>
          </a:bodyPr>
          <a:lstStyle/>
          <a:p>
            <a:pPr algn="l">
              <a:lnSpc>
                <a:spcPct val="125000"/>
              </a:lnSpc>
              <a:spcAft>
                <a:spcPts val="800"/>
              </a:spcAft>
            </a:pPr>
            <a:r>
              <a:rPr sz="2100" b="0">
                <a:solidFill>
                  <a:srgbClr val="62626E"/>
                </a:solidFill>
                <a:latin typeface="Helvetica Neue"/>
              </a:rPr>
              <a:t>Type a biomarker. Get 96 wells a wet lab can order — and the reasons to believe them, or not.</a:t>
            </a:r>
          </a:p>
        </p:txBody>
      </p:sp>
      <p:sp>
        <p:nvSpPr>
          <p:cNvPr id="5" name="Rectangle 4"/>
          <p:cNvSpPr/>
          <p:nvPr/>
        </p:nvSpPr>
        <p:spPr>
          <a:xfrm>
            <a:off x="640080" y="4754880"/>
            <a:ext cx="10911535" cy="9525"/>
          </a:xfrm>
          <a:prstGeom prst="rect">
            <a:avLst/>
          </a:prstGeom>
          <a:solidFill>
            <a:srgbClr val="E4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029200"/>
            <a:ext cx="10515600" cy="822960"/>
          </a:xfrm>
          <a:prstGeom prst="rect">
            <a:avLst/>
          </a:prstGeom>
          <a:noFill/>
        </p:spPr>
        <p:txBody>
          <a:bodyPr wrap="square" lIns="0" rIns="0" tIns="0" bIns="0">
            <a:spAutoFit/>
          </a:bodyPr>
          <a:lstStyle/>
          <a:p>
            <a:pPr algn="l">
              <a:lnSpc>
                <a:spcPct val="125000"/>
              </a:lnSpc>
              <a:spcAft>
                <a:spcPts val="800"/>
              </a:spcAft>
            </a:pPr>
            <a:r>
              <a:rPr sz="1500" b="0">
                <a:solidFill>
                  <a:srgbClr val="1A1A1E"/>
                </a:solidFill>
                <a:latin typeface="Helvetica Neue"/>
              </a:rPr>
              <a:t>Continuous electrochemical (E-AB) biosensing · IL-6, IL-10, TNF-α</a:t>
            </a:r>
          </a:p>
          <a:p>
            <a:pPr algn="l">
              <a:lnSpc>
                <a:spcPct val="125000"/>
              </a:lnSpc>
              <a:spcAft>
                <a:spcPts val="800"/>
              </a:spcAft>
            </a:pPr>
            <a:r>
              <a:rPr sz="1300" b="0">
                <a:solidFill>
                  <a:srgbClr val="62626E"/>
                </a:solidFill>
                <a:latin typeface="Helvetica Neue"/>
              </a:rPr>
              <a:t>Claude Agent SDK · ViennaRNA · Paperclip · Modal/Proto · Primer3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274320"/>
          </a:xfrm>
          <a:prstGeom prst="rect">
            <a:avLst/>
          </a:prstGeom>
          <a:noFill/>
        </p:spPr>
        <p:txBody>
          <a:bodyPr wrap="square" lIns="0" rIns="0" tIns="0" bIns="0">
            <a:spAutoFit/>
          </a:bodyPr>
          <a:lstStyle/>
          <a:p>
            <a:pPr algn="l">
              <a:lnSpc>
                <a:spcPct val="125000"/>
              </a:lnSpc>
              <a:spcAft>
                <a:spcPts val="800"/>
              </a:spcAft>
            </a:pPr>
            <a:r>
              <a:rPr sz="1200" b="1">
                <a:solidFill>
                  <a:srgbClr val="2F5CE5"/>
                </a:solidFill>
                <a:latin typeface="Helvetica Neue"/>
              </a:rPr>
              <a:t>THE PROBLEM</a:t>
            </a:r>
          </a:p>
        </p:txBody>
      </p:sp>
      <p:sp>
        <p:nvSpPr>
          <p:cNvPr id="3" name="TextBox 2"/>
          <p:cNvSpPr txBox="1"/>
          <p:nvPr/>
        </p:nvSpPr>
        <p:spPr>
          <a:xfrm>
            <a:off x="640080" y="777240"/>
            <a:ext cx="10911535" cy="640080"/>
          </a:xfrm>
          <a:prstGeom prst="rect">
            <a:avLst/>
          </a:prstGeom>
          <a:noFill/>
        </p:spPr>
        <p:txBody>
          <a:bodyPr wrap="square" lIns="0" rIns="0" tIns="0" bIns="0">
            <a:spAutoFit/>
          </a:bodyPr>
          <a:lstStyle/>
          <a:p>
            <a:pPr algn="l">
              <a:lnSpc>
                <a:spcPct val="105000"/>
              </a:lnSpc>
              <a:spcAft>
                <a:spcPts val="800"/>
              </a:spcAft>
            </a:pPr>
            <a:r>
              <a:rPr sz="3000" b="1">
                <a:solidFill>
                  <a:srgbClr val="1A1A1E"/>
                </a:solidFill>
                <a:latin typeface="Helvetica Neue"/>
              </a:rPr>
              <a:t>A binder is not a sensor</a:t>
            </a:r>
          </a:p>
        </p:txBody>
      </p:sp>
      <p:sp>
        <p:nvSpPr>
          <p:cNvPr id="4" name="TextBox 3"/>
          <p:cNvSpPr txBox="1"/>
          <p:nvPr/>
        </p:nvSpPr>
        <p:spPr>
          <a:xfrm>
            <a:off x="640080" y="1554480"/>
            <a:ext cx="5486400" cy="3291840"/>
          </a:xfrm>
          <a:prstGeom prst="rect">
            <a:avLst/>
          </a:prstGeom>
          <a:noFill/>
        </p:spPr>
        <p:txBody>
          <a:bodyPr wrap="square" lIns="0" rIns="0" tIns="0" bIns="0">
            <a:spAutoFit/>
          </a:bodyPr>
          <a:lstStyle/>
          <a:p>
            <a:pPr algn="l">
              <a:lnSpc>
                <a:spcPct val="125000"/>
              </a:lnSpc>
              <a:spcAft>
                <a:spcPts val="800"/>
              </a:spcAft>
            </a:pPr>
            <a:r>
              <a:rPr sz="1700" b="0">
                <a:solidFill>
                  <a:srgbClr val="1A1A1E"/>
                </a:solidFill>
                <a:latin typeface="Helvetica Neue"/>
              </a:rPr>
              <a:t>An E-AB sensor reports a conformational change, not a binding event. The aptamer is tethered to gold at the 5′ end and carries a methylene-blue reporter at the 3′ end; current changes only if the molecule folds differently when the target arrives.</a:t>
            </a:r>
          </a:p>
          <a:p>
            <a:pPr algn="l">
              <a:lnSpc>
                <a:spcPct val="125000"/>
              </a:lnSpc>
              <a:spcAft>
                <a:spcPts val="800"/>
              </a:spcAft>
            </a:pPr>
            <a:r>
              <a:rPr sz="1700" b="1">
                <a:solidFill>
                  <a:srgbClr val="1A1A1E"/>
                </a:solidFill>
                <a:latin typeface="Helvetica Neue"/>
              </a:rPr>
              <a:t>So the design problem is not "find a binder". It is: take a published binder and destabilise it by exactly the right amount.</a:t>
            </a:r>
          </a:p>
          <a:p>
            <a:pPr algn="l">
              <a:lnSpc>
                <a:spcPct val="125000"/>
              </a:lnSpc>
              <a:spcAft>
                <a:spcPts val="800"/>
              </a:spcAft>
            </a:pPr>
            <a:r>
              <a:rPr sz="1700" b="0">
                <a:solidFill>
                  <a:srgbClr val="B45309"/>
                </a:solidFill>
                <a:latin typeface="Helvetica Neue"/>
              </a:rPr>
              <a:t>Too stable and it never switches. Too loose and it never folds. The usable window is roughly 2 kcal/mol wide — and that is narrower than the folding model's own error bar.</a:t>
            </a:r>
          </a:p>
        </p:txBody>
      </p:sp>
      <p:pic>
        <p:nvPicPr>
          <p:cNvPr id="5" name="Picture 4" descr="IL-6_switch.png"/>
          <p:cNvPicPr>
            <a:picLocks noChangeAspect="1"/>
          </p:cNvPicPr>
          <p:nvPr/>
        </p:nvPicPr>
        <p:blipFill>
          <a:blip r:embed="rId2"/>
          <a:stretch>
            <a:fillRect/>
          </a:stretch>
        </p:blipFill>
        <p:spPr>
          <a:xfrm>
            <a:off x="6400800" y="1463040"/>
            <a:ext cx="5120640" cy="253593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274320"/>
          </a:xfrm>
          <a:prstGeom prst="rect">
            <a:avLst/>
          </a:prstGeom>
          <a:noFill/>
        </p:spPr>
        <p:txBody>
          <a:bodyPr wrap="square" lIns="0" rIns="0" tIns="0" bIns="0">
            <a:spAutoFit/>
          </a:bodyPr>
          <a:lstStyle/>
          <a:p>
            <a:pPr algn="l">
              <a:lnSpc>
                <a:spcPct val="125000"/>
              </a:lnSpc>
              <a:spcAft>
                <a:spcPts val="800"/>
              </a:spcAft>
            </a:pPr>
            <a:r>
              <a:rPr sz="1200" b="1">
                <a:solidFill>
                  <a:srgbClr val="2F5CE5"/>
                </a:solidFill>
                <a:latin typeface="Helvetica Neue"/>
              </a:rPr>
              <a:t>WHAT WE BUILT</a:t>
            </a:r>
          </a:p>
        </p:txBody>
      </p:sp>
      <p:sp>
        <p:nvSpPr>
          <p:cNvPr id="3" name="TextBox 2"/>
          <p:cNvSpPr txBox="1"/>
          <p:nvPr/>
        </p:nvSpPr>
        <p:spPr>
          <a:xfrm>
            <a:off x="640080" y="777240"/>
            <a:ext cx="10911535" cy="640080"/>
          </a:xfrm>
          <a:prstGeom prst="rect">
            <a:avLst/>
          </a:prstGeom>
          <a:noFill/>
        </p:spPr>
        <p:txBody>
          <a:bodyPr wrap="square" lIns="0" rIns="0" tIns="0" bIns="0">
            <a:spAutoFit/>
          </a:bodyPr>
          <a:lstStyle/>
          <a:p>
            <a:pPr algn="l">
              <a:lnSpc>
                <a:spcPct val="105000"/>
              </a:lnSpc>
              <a:spcAft>
                <a:spcPts val="800"/>
              </a:spcAft>
            </a:pPr>
            <a:r>
              <a:rPr sz="3000" b="1">
                <a:solidFill>
                  <a:srgbClr val="1A1A1E"/>
                </a:solidFill>
                <a:latin typeface="Helvetica Neue"/>
              </a:rPr>
              <a:t>One input, eight tools, an orderable plate</a:t>
            </a:r>
          </a:p>
        </p:txBody>
      </p:sp>
      <p:sp>
        <p:nvSpPr>
          <p:cNvPr id="4" name="TextBox 3"/>
          <p:cNvSpPr txBox="1"/>
          <p:nvPr/>
        </p:nvSpPr>
        <p:spPr>
          <a:xfrm>
            <a:off x="640080" y="1554480"/>
            <a:ext cx="2743200" cy="274320"/>
          </a:xfrm>
          <a:prstGeom prst="rect">
            <a:avLst/>
          </a:prstGeom>
          <a:noFill/>
        </p:spPr>
        <p:txBody>
          <a:bodyPr wrap="square" lIns="0" rIns="0" tIns="0" bIns="0">
            <a:spAutoFit/>
          </a:bodyPr>
          <a:lstStyle/>
          <a:p>
            <a:pPr algn="l">
              <a:lnSpc>
                <a:spcPct val="100000"/>
              </a:lnSpc>
              <a:spcAft>
                <a:spcPts val="800"/>
              </a:spcAft>
            </a:pPr>
            <a:r>
              <a:rPr sz="1500" b="1">
                <a:solidFill>
                  <a:srgbClr val="2F5CE5"/>
                </a:solidFill>
                <a:latin typeface="Helvetica Neue"/>
              </a:rPr>
              <a:t>find_parents</a:t>
            </a:r>
          </a:p>
        </p:txBody>
      </p:sp>
      <p:sp>
        <p:nvSpPr>
          <p:cNvPr id="5" name="TextBox 4"/>
          <p:cNvSpPr txBox="1"/>
          <p:nvPr/>
        </p:nvSpPr>
        <p:spPr>
          <a:xfrm>
            <a:off x="3474720" y="1554480"/>
            <a:ext cx="4023360" cy="274320"/>
          </a:xfrm>
          <a:prstGeom prst="rect">
            <a:avLst/>
          </a:prstGeom>
          <a:noFill/>
        </p:spPr>
        <p:txBody>
          <a:bodyPr wrap="square" lIns="0" rIns="0" tIns="0" bIns="0">
            <a:spAutoFit/>
          </a:bodyPr>
          <a:lstStyle/>
          <a:p>
            <a:pPr algn="l">
              <a:lnSpc>
                <a:spcPct val="100000"/>
              </a:lnSpc>
              <a:spcAft>
                <a:spcPts val="800"/>
              </a:spcAft>
            </a:pPr>
            <a:r>
              <a:rPr sz="1500" b="0">
                <a:solidFill>
                  <a:srgbClr val="1A1A1E"/>
                </a:solidFill>
                <a:latin typeface="Helvetica Neue"/>
              </a:rPr>
              <a:t>greps the full text of the literature for sequences</a:t>
            </a:r>
          </a:p>
        </p:txBody>
      </p:sp>
      <p:sp>
        <p:nvSpPr>
          <p:cNvPr id="6" name="TextBox 5"/>
          <p:cNvSpPr txBox="1"/>
          <p:nvPr/>
        </p:nvSpPr>
        <p:spPr>
          <a:xfrm>
            <a:off x="640080" y="2039112"/>
            <a:ext cx="2743200" cy="274320"/>
          </a:xfrm>
          <a:prstGeom prst="rect">
            <a:avLst/>
          </a:prstGeom>
          <a:noFill/>
        </p:spPr>
        <p:txBody>
          <a:bodyPr wrap="square" lIns="0" rIns="0" tIns="0" bIns="0">
            <a:spAutoFit/>
          </a:bodyPr>
          <a:lstStyle/>
          <a:p>
            <a:pPr algn="l">
              <a:lnSpc>
                <a:spcPct val="100000"/>
              </a:lnSpc>
              <a:spcAft>
                <a:spcPts val="800"/>
              </a:spcAft>
            </a:pPr>
            <a:r>
              <a:rPr sz="1500" b="1">
                <a:solidFill>
                  <a:srgbClr val="2F5CE5"/>
                </a:solidFill>
                <a:latin typeface="Helvetica Neue"/>
              </a:rPr>
              <a:t>assess_parent</a:t>
            </a:r>
          </a:p>
        </p:txBody>
      </p:sp>
      <p:sp>
        <p:nvSpPr>
          <p:cNvPr id="7" name="TextBox 6"/>
          <p:cNvSpPr txBox="1"/>
          <p:nvPr/>
        </p:nvSpPr>
        <p:spPr>
          <a:xfrm>
            <a:off x="3474720" y="2039112"/>
            <a:ext cx="4023360" cy="274320"/>
          </a:xfrm>
          <a:prstGeom prst="rect">
            <a:avLst/>
          </a:prstGeom>
          <a:noFill/>
        </p:spPr>
        <p:txBody>
          <a:bodyPr wrap="square" lIns="0" rIns="0" tIns="0" bIns="0">
            <a:spAutoFit/>
          </a:bodyPr>
          <a:lstStyle/>
          <a:p>
            <a:pPr algn="l">
              <a:lnSpc>
                <a:spcPct val="100000"/>
              </a:lnSpc>
              <a:spcAft>
                <a:spcPts val="800"/>
              </a:spcAft>
            </a:pPr>
            <a:r>
              <a:rPr sz="1500" b="0">
                <a:solidFill>
                  <a:srgbClr val="1A1A1E"/>
                </a:solidFill>
                <a:latin typeface="Helvetica Neue"/>
              </a:rPr>
              <a:t>folds it; decides which design lever even exists</a:t>
            </a:r>
          </a:p>
        </p:txBody>
      </p:sp>
      <p:sp>
        <p:nvSpPr>
          <p:cNvPr id="8" name="TextBox 7"/>
          <p:cNvSpPr txBox="1"/>
          <p:nvPr/>
        </p:nvSpPr>
        <p:spPr>
          <a:xfrm>
            <a:off x="640080" y="2523744"/>
            <a:ext cx="2743200" cy="274320"/>
          </a:xfrm>
          <a:prstGeom prst="rect">
            <a:avLst/>
          </a:prstGeom>
          <a:noFill/>
        </p:spPr>
        <p:txBody>
          <a:bodyPr wrap="square" lIns="0" rIns="0" tIns="0" bIns="0">
            <a:spAutoFit/>
          </a:bodyPr>
          <a:lstStyle/>
          <a:p>
            <a:pPr algn="l">
              <a:lnSpc>
                <a:spcPct val="100000"/>
              </a:lnSpc>
              <a:spcAft>
                <a:spcPts val="800"/>
              </a:spcAft>
            </a:pPr>
            <a:r>
              <a:rPr sz="1500" b="1">
                <a:solidFill>
                  <a:srgbClr val="2F5CE5"/>
                </a:solidFill>
                <a:latin typeface="Helvetica Neue"/>
              </a:rPr>
              <a:t>design_plate</a:t>
            </a:r>
          </a:p>
        </p:txBody>
      </p:sp>
      <p:sp>
        <p:nvSpPr>
          <p:cNvPr id="9" name="TextBox 8"/>
          <p:cNvSpPr txBox="1"/>
          <p:nvPr/>
        </p:nvSpPr>
        <p:spPr>
          <a:xfrm>
            <a:off x="3474720" y="2523744"/>
            <a:ext cx="4023360" cy="274320"/>
          </a:xfrm>
          <a:prstGeom prst="rect">
            <a:avLst/>
          </a:prstGeom>
          <a:noFill/>
        </p:spPr>
        <p:txBody>
          <a:bodyPr wrap="square" lIns="0" rIns="0" tIns="0" bIns="0">
            <a:spAutoFit/>
          </a:bodyPr>
          <a:lstStyle/>
          <a:p>
            <a:pPr algn="l">
              <a:lnSpc>
                <a:spcPct val="100000"/>
              </a:lnSpc>
              <a:spcAft>
                <a:spcPts val="800"/>
              </a:spcAft>
            </a:pPr>
            <a:r>
              <a:rPr sz="1500" b="0">
                <a:solidFill>
                  <a:srgbClr val="1A1A1E"/>
                </a:solidFill>
                <a:latin typeface="Helvetica Neue"/>
              </a:rPr>
              <a:t>enumerates, scores, filters, tiles, exports</a:t>
            </a:r>
          </a:p>
        </p:txBody>
      </p:sp>
      <p:sp>
        <p:nvSpPr>
          <p:cNvPr id="10" name="TextBox 9"/>
          <p:cNvSpPr txBox="1"/>
          <p:nvPr/>
        </p:nvSpPr>
        <p:spPr>
          <a:xfrm>
            <a:off x="640080" y="3008376"/>
            <a:ext cx="2743200" cy="274320"/>
          </a:xfrm>
          <a:prstGeom prst="rect">
            <a:avLst/>
          </a:prstGeom>
          <a:noFill/>
        </p:spPr>
        <p:txBody>
          <a:bodyPr wrap="square" lIns="0" rIns="0" tIns="0" bIns="0">
            <a:spAutoFit/>
          </a:bodyPr>
          <a:lstStyle/>
          <a:p>
            <a:pPr algn="l">
              <a:lnSpc>
                <a:spcPct val="100000"/>
              </a:lnSpc>
              <a:spcAft>
                <a:spcPts val="800"/>
              </a:spcAft>
            </a:pPr>
            <a:r>
              <a:rPr sz="1500" b="1">
                <a:solidFill>
                  <a:srgbClr val="2F5CE5"/>
                </a:solidFill>
                <a:latin typeface="Helvetica Neue"/>
              </a:rPr>
              <a:t>validate_plate</a:t>
            </a:r>
          </a:p>
        </p:txBody>
      </p:sp>
      <p:sp>
        <p:nvSpPr>
          <p:cNvPr id="11" name="TextBox 10"/>
          <p:cNvSpPr txBox="1"/>
          <p:nvPr/>
        </p:nvSpPr>
        <p:spPr>
          <a:xfrm>
            <a:off x="3474720" y="3008376"/>
            <a:ext cx="4023360" cy="274320"/>
          </a:xfrm>
          <a:prstGeom prst="rect">
            <a:avLst/>
          </a:prstGeom>
          <a:noFill/>
        </p:spPr>
        <p:txBody>
          <a:bodyPr wrap="square" lIns="0" rIns="0" tIns="0" bIns="0">
            <a:spAutoFit/>
          </a:bodyPr>
          <a:lstStyle/>
          <a:p>
            <a:pPr algn="l">
              <a:lnSpc>
                <a:spcPct val="100000"/>
              </a:lnSpc>
              <a:spcAft>
                <a:spcPts val="800"/>
              </a:spcAft>
            </a:pPr>
            <a:r>
              <a:rPr sz="1500" b="0">
                <a:solidFill>
                  <a:srgbClr val="1A1A1E"/>
                </a:solidFill>
                <a:latin typeface="Helvetica Neue"/>
              </a:rPr>
              <a:t>re-scores with an independent engine (Primer3)</a:t>
            </a:r>
          </a:p>
        </p:txBody>
      </p:sp>
      <p:sp>
        <p:nvSpPr>
          <p:cNvPr id="12" name="TextBox 11"/>
          <p:cNvSpPr txBox="1"/>
          <p:nvPr/>
        </p:nvSpPr>
        <p:spPr>
          <a:xfrm>
            <a:off x="640080" y="3493008"/>
            <a:ext cx="2743200" cy="274320"/>
          </a:xfrm>
          <a:prstGeom prst="rect">
            <a:avLst/>
          </a:prstGeom>
          <a:noFill/>
        </p:spPr>
        <p:txBody>
          <a:bodyPr wrap="square" lIns="0" rIns="0" tIns="0" bIns="0">
            <a:spAutoFit/>
          </a:bodyPr>
          <a:lstStyle/>
          <a:p>
            <a:pPr algn="l">
              <a:lnSpc>
                <a:spcPct val="100000"/>
              </a:lnSpc>
              <a:spcAft>
                <a:spcPts val="800"/>
              </a:spcAft>
            </a:pPr>
            <a:r>
              <a:rPr sz="1500" b="1">
                <a:solidFill>
                  <a:srgbClr val="2F5CE5"/>
                </a:solidFill>
                <a:latin typeface="Helvetica Neue"/>
              </a:rPr>
              <a:t>test_core_sensitivity</a:t>
            </a:r>
          </a:p>
        </p:txBody>
      </p:sp>
      <p:sp>
        <p:nvSpPr>
          <p:cNvPr id="13" name="TextBox 12"/>
          <p:cNvSpPr txBox="1"/>
          <p:nvPr/>
        </p:nvSpPr>
        <p:spPr>
          <a:xfrm>
            <a:off x="3474720" y="3493008"/>
            <a:ext cx="4023360" cy="274320"/>
          </a:xfrm>
          <a:prstGeom prst="rect">
            <a:avLst/>
          </a:prstGeom>
          <a:noFill/>
        </p:spPr>
        <p:txBody>
          <a:bodyPr wrap="square" lIns="0" rIns="0" tIns="0" bIns="0">
            <a:spAutoFit/>
          </a:bodyPr>
          <a:lstStyle/>
          <a:p>
            <a:pPr algn="l">
              <a:lnSpc>
                <a:spcPct val="100000"/>
              </a:lnSpc>
              <a:spcAft>
                <a:spcPts val="800"/>
              </a:spcAft>
            </a:pPr>
            <a:r>
              <a:rPr sz="1500" b="0">
                <a:solidFill>
                  <a:srgbClr val="1A1A1E"/>
                </a:solidFill>
                <a:latin typeface="Helvetica Neue"/>
              </a:rPr>
              <a:t>does the plate survive its own assumption?</a:t>
            </a:r>
          </a:p>
        </p:txBody>
      </p:sp>
      <p:sp>
        <p:nvSpPr>
          <p:cNvPr id="14" name="TextBox 13"/>
          <p:cNvSpPr txBox="1"/>
          <p:nvPr/>
        </p:nvSpPr>
        <p:spPr>
          <a:xfrm>
            <a:off x="640080" y="3977640"/>
            <a:ext cx="2743200" cy="274320"/>
          </a:xfrm>
          <a:prstGeom prst="rect">
            <a:avLst/>
          </a:prstGeom>
          <a:noFill/>
        </p:spPr>
        <p:txBody>
          <a:bodyPr wrap="square" lIns="0" rIns="0" tIns="0" bIns="0">
            <a:spAutoFit/>
          </a:bodyPr>
          <a:lstStyle/>
          <a:p>
            <a:pPr algn="l">
              <a:lnSpc>
                <a:spcPct val="100000"/>
              </a:lnSpc>
              <a:spcAft>
                <a:spcPts val="800"/>
              </a:spcAft>
            </a:pPr>
            <a:r>
              <a:rPr sz="1500" b="1">
                <a:solidFill>
                  <a:srgbClr val="2F5CE5"/>
                </a:solidFill>
                <a:latin typeface="Helvetica Neue"/>
              </a:rPr>
              <a:t>build_hedged_plate</a:t>
            </a:r>
          </a:p>
        </p:txBody>
      </p:sp>
      <p:sp>
        <p:nvSpPr>
          <p:cNvPr id="15" name="TextBox 14"/>
          <p:cNvSpPr txBox="1"/>
          <p:nvPr/>
        </p:nvSpPr>
        <p:spPr>
          <a:xfrm>
            <a:off x="3474720" y="3977640"/>
            <a:ext cx="4023360" cy="274320"/>
          </a:xfrm>
          <a:prstGeom prst="rect">
            <a:avLst/>
          </a:prstGeom>
          <a:noFill/>
        </p:spPr>
        <p:txBody>
          <a:bodyPr wrap="square" lIns="0" rIns="0" tIns="0" bIns="0">
            <a:spAutoFit/>
          </a:bodyPr>
          <a:lstStyle/>
          <a:p>
            <a:pPr algn="l">
              <a:lnSpc>
                <a:spcPct val="100000"/>
              </a:lnSpc>
              <a:spcAft>
                <a:spcPts val="800"/>
              </a:spcAft>
            </a:pPr>
            <a:r>
              <a:rPr sz="1500" b="0">
                <a:solidFill>
                  <a:srgbClr val="1A1A1E"/>
                </a:solidFill>
                <a:latin typeface="Helvetica Neue"/>
              </a:rPr>
              <a:t>spends 96 wells across the uncertainty</a:t>
            </a:r>
          </a:p>
        </p:txBody>
      </p:sp>
      <p:sp>
        <p:nvSpPr>
          <p:cNvPr id="16" name="TextBox 15"/>
          <p:cNvSpPr txBox="1"/>
          <p:nvPr/>
        </p:nvSpPr>
        <p:spPr>
          <a:xfrm>
            <a:off x="640080" y="4462272"/>
            <a:ext cx="2743200" cy="274320"/>
          </a:xfrm>
          <a:prstGeom prst="rect">
            <a:avLst/>
          </a:prstGeom>
          <a:noFill/>
        </p:spPr>
        <p:txBody>
          <a:bodyPr wrap="square" lIns="0" rIns="0" tIns="0" bIns="0">
            <a:spAutoFit/>
          </a:bodyPr>
          <a:lstStyle/>
          <a:p>
            <a:pPr algn="l">
              <a:lnSpc>
                <a:spcPct val="100000"/>
              </a:lnSpc>
              <a:spcAft>
                <a:spcPts val="800"/>
              </a:spcAft>
            </a:pPr>
            <a:r>
              <a:rPr sz="1500" b="1">
                <a:solidFill>
                  <a:srgbClr val="2F5CE5"/>
                </a:solidFill>
                <a:latin typeface="Helvetica Neue"/>
              </a:rPr>
              <a:t>learn_from_results</a:t>
            </a:r>
          </a:p>
        </p:txBody>
      </p:sp>
      <p:sp>
        <p:nvSpPr>
          <p:cNvPr id="17" name="TextBox 16"/>
          <p:cNvSpPr txBox="1"/>
          <p:nvPr/>
        </p:nvSpPr>
        <p:spPr>
          <a:xfrm>
            <a:off x="3474720" y="4462272"/>
            <a:ext cx="4023360" cy="274320"/>
          </a:xfrm>
          <a:prstGeom prst="rect">
            <a:avLst/>
          </a:prstGeom>
          <a:noFill/>
        </p:spPr>
        <p:txBody>
          <a:bodyPr wrap="square" lIns="0" rIns="0" tIns="0" bIns="0">
            <a:spAutoFit/>
          </a:bodyPr>
          <a:lstStyle/>
          <a:p>
            <a:pPr algn="l">
              <a:lnSpc>
                <a:spcPct val="100000"/>
              </a:lnSpc>
              <a:spcAft>
                <a:spcPts val="800"/>
              </a:spcAft>
            </a:pPr>
            <a:r>
              <a:rPr sz="1500" b="0">
                <a:solidFill>
                  <a:srgbClr val="1A1A1E"/>
                </a:solidFill>
                <a:latin typeface="Helvetica Neue"/>
              </a:rPr>
              <a:t>reads the bench data and moves the window</a:t>
            </a:r>
          </a:p>
        </p:txBody>
      </p:sp>
      <p:sp>
        <p:nvSpPr>
          <p:cNvPr id="18" name="TextBox 17"/>
          <p:cNvSpPr txBox="1"/>
          <p:nvPr/>
        </p:nvSpPr>
        <p:spPr>
          <a:xfrm>
            <a:off x="640080" y="4946904"/>
            <a:ext cx="2743200" cy="274320"/>
          </a:xfrm>
          <a:prstGeom prst="rect">
            <a:avLst/>
          </a:prstGeom>
          <a:noFill/>
        </p:spPr>
        <p:txBody>
          <a:bodyPr wrap="square" lIns="0" rIns="0" tIns="0" bIns="0">
            <a:spAutoFit/>
          </a:bodyPr>
          <a:lstStyle/>
          <a:p>
            <a:pPr algn="l">
              <a:lnSpc>
                <a:spcPct val="100000"/>
              </a:lnSpc>
              <a:spcAft>
                <a:spcPts val="800"/>
              </a:spcAft>
            </a:pPr>
            <a:r>
              <a:rPr sz="1500" b="1">
                <a:solidFill>
                  <a:srgbClr val="2F5CE5"/>
                </a:solidFill>
                <a:latin typeface="Helvetica Neue"/>
              </a:rPr>
              <a:t>read_ledger</a:t>
            </a:r>
          </a:p>
        </p:txBody>
      </p:sp>
      <p:sp>
        <p:nvSpPr>
          <p:cNvPr id="19" name="TextBox 18"/>
          <p:cNvSpPr txBox="1"/>
          <p:nvPr/>
        </p:nvSpPr>
        <p:spPr>
          <a:xfrm>
            <a:off x="3474720" y="4946904"/>
            <a:ext cx="4023360" cy="274320"/>
          </a:xfrm>
          <a:prstGeom prst="rect">
            <a:avLst/>
          </a:prstGeom>
          <a:noFill/>
        </p:spPr>
        <p:txBody>
          <a:bodyPr wrap="square" lIns="0" rIns="0" tIns="0" bIns="0">
            <a:spAutoFit/>
          </a:bodyPr>
          <a:lstStyle/>
          <a:p>
            <a:pPr algn="l">
              <a:lnSpc>
                <a:spcPct val="100000"/>
              </a:lnSpc>
              <a:spcAft>
                <a:spcPts val="800"/>
              </a:spcAft>
            </a:pPr>
            <a:r>
              <a:rPr sz="1500" b="0">
                <a:solidFill>
                  <a:srgbClr val="1A1A1E"/>
                </a:solidFill>
                <a:latin typeface="Helvetica Neue"/>
              </a:rPr>
              <a:t>what is measured, assumed, and rejected</a:t>
            </a:r>
          </a:p>
        </p:txBody>
      </p:sp>
      <p:sp>
        <p:nvSpPr>
          <p:cNvPr id="20" name="TextBox 19"/>
          <p:cNvSpPr txBox="1"/>
          <p:nvPr/>
        </p:nvSpPr>
        <p:spPr>
          <a:xfrm>
            <a:off x="7589520" y="1554480"/>
            <a:ext cx="4023360" cy="2926080"/>
          </a:xfrm>
          <a:prstGeom prst="rect">
            <a:avLst/>
          </a:prstGeom>
          <a:noFill/>
        </p:spPr>
        <p:txBody>
          <a:bodyPr wrap="square" lIns="0" rIns="0" tIns="0" bIns="0">
            <a:spAutoFit/>
          </a:bodyPr>
          <a:lstStyle/>
          <a:p>
            <a:pPr algn="l">
              <a:lnSpc>
                <a:spcPct val="125000"/>
              </a:lnSpc>
              <a:spcAft>
                <a:spcPts val="800"/>
              </a:spcAft>
            </a:pPr>
            <a:r>
              <a:rPr sz="1600" b="1">
                <a:solidFill>
                  <a:srgbClr val="1A1A1E"/>
                </a:solidFill>
                <a:latin typeface="Helvetica Neue"/>
              </a:rPr>
              <a:t>The agent chooses the order and can refuse.</a:t>
            </a:r>
          </a:p>
          <a:p>
            <a:pPr algn="l">
              <a:lnSpc>
                <a:spcPct val="125000"/>
              </a:lnSpc>
              <a:spcAft>
                <a:spcPts val="800"/>
              </a:spcAft>
            </a:pPr>
            <a:r>
              <a:rPr sz="1500" b="0">
                <a:solidFill>
                  <a:srgbClr val="62626E"/>
                </a:solidFill>
                <a:latin typeface="Helvetica Neue"/>
              </a:rPr>
              <a:t>If no published parent binds the target, it says so and stops rather than inventing one — de novo aptamer design has no validated computational method.</a:t>
            </a:r>
          </a:p>
          <a:p>
            <a:pPr algn="l">
              <a:lnSpc>
                <a:spcPct val="125000"/>
              </a:lnSpc>
              <a:spcAft>
                <a:spcPts val="800"/>
              </a:spcAft>
            </a:pPr>
            <a:r>
              <a:rPr sz="1500" b="0">
                <a:solidFill>
                  <a:srgbClr val="62626E"/>
                </a:solidFill>
                <a:latin typeface="Helvetica Neue"/>
              </a:rPr>
              <a:t>Everything runs on the Claude Agent SDK with Claude Code's own tools switched off, so the agent has exactly these eight and nothing else.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274320"/>
          </a:xfrm>
          <a:prstGeom prst="rect">
            <a:avLst/>
          </a:prstGeom>
          <a:noFill/>
        </p:spPr>
        <p:txBody>
          <a:bodyPr wrap="square" lIns="0" rIns="0" tIns="0" bIns="0">
            <a:spAutoFit/>
          </a:bodyPr>
          <a:lstStyle/>
          <a:p>
            <a:pPr algn="l">
              <a:lnSpc>
                <a:spcPct val="125000"/>
              </a:lnSpc>
              <a:spcAft>
                <a:spcPts val="800"/>
              </a:spcAft>
            </a:pPr>
            <a:r>
              <a:rPr sz="1200" b="1">
                <a:solidFill>
                  <a:srgbClr val="2F5CE5"/>
                </a:solidFill>
                <a:latin typeface="Helvetica Neue"/>
              </a:rPr>
              <a:t>EVIDENCE</a:t>
            </a:r>
          </a:p>
        </p:txBody>
      </p:sp>
      <p:sp>
        <p:nvSpPr>
          <p:cNvPr id="3" name="TextBox 2"/>
          <p:cNvSpPr txBox="1"/>
          <p:nvPr/>
        </p:nvSpPr>
        <p:spPr>
          <a:xfrm>
            <a:off x="640080" y="777240"/>
            <a:ext cx="10911535" cy="640080"/>
          </a:xfrm>
          <a:prstGeom prst="rect">
            <a:avLst/>
          </a:prstGeom>
          <a:noFill/>
        </p:spPr>
        <p:txBody>
          <a:bodyPr wrap="square" lIns="0" rIns="0" tIns="0" bIns="0">
            <a:spAutoFit/>
          </a:bodyPr>
          <a:lstStyle/>
          <a:p>
            <a:pPr algn="l">
              <a:lnSpc>
                <a:spcPct val="105000"/>
              </a:lnSpc>
              <a:spcAft>
                <a:spcPts val="800"/>
              </a:spcAft>
            </a:pPr>
            <a:r>
              <a:rPr sz="3000" b="1">
                <a:solidFill>
                  <a:srgbClr val="1A1A1E"/>
                </a:solidFill>
                <a:latin typeface="Helvetica Neue"/>
              </a:rPr>
              <a:t>Search for sequences, not for topics</a:t>
            </a:r>
          </a:p>
        </p:txBody>
      </p:sp>
      <p:sp>
        <p:nvSpPr>
          <p:cNvPr id="4" name="TextBox 3"/>
          <p:cNvSpPr txBox="1"/>
          <p:nvPr/>
        </p:nvSpPr>
        <p:spPr>
          <a:xfrm>
            <a:off x="640080" y="1554480"/>
            <a:ext cx="5669280" cy="3108960"/>
          </a:xfrm>
          <a:prstGeom prst="rect">
            <a:avLst/>
          </a:prstGeom>
          <a:noFill/>
        </p:spPr>
        <p:txBody>
          <a:bodyPr wrap="square" lIns="0" rIns="0" tIns="0" bIns="0">
            <a:spAutoFit/>
          </a:bodyPr>
          <a:lstStyle/>
          <a:p>
            <a:pPr algn="l">
              <a:lnSpc>
                <a:spcPct val="125000"/>
              </a:lnSpc>
              <a:spcAft>
                <a:spcPts val="800"/>
              </a:spcAft>
            </a:pPr>
            <a:r>
              <a:rPr sz="1700" b="0">
                <a:solidFill>
                  <a:srgbClr val="1A1A1E"/>
                </a:solidFill>
                <a:latin typeface="Helvetica Neue"/>
              </a:rPr>
              <a:t>Ranking papers by relevance finds reviews. We grep the full text of the corpus for DNA/RNA strings, then read what is printed on either side of each hit.</a:t>
            </a:r>
          </a:p>
          <a:p>
            <a:pPr algn="l">
              <a:lnSpc>
                <a:spcPct val="125000"/>
              </a:lnSpc>
              <a:spcAft>
                <a:spcPts val="800"/>
              </a:spcAft>
            </a:pPr>
            <a:r>
              <a:rPr sz="1700" b="0">
                <a:solidFill>
                  <a:srgbClr val="1A1A1E"/>
                </a:solidFill>
                <a:latin typeface="Helvetica Neue"/>
              </a:rPr>
              <a:t>Every candidate carries printed_as — the words the paper set immediately around the sequence — so the agent can see it is about to design against the receptor rather than the ligand.</a:t>
            </a:r>
          </a:p>
          <a:p>
            <a:pPr algn="l">
              <a:lnSpc>
                <a:spcPct val="125000"/>
              </a:lnSpc>
              <a:spcAft>
                <a:spcPts val="800"/>
              </a:spcAft>
            </a:pPr>
            <a:r>
              <a:rPr sz="1700" b="0">
                <a:solidFill>
                  <a:srgbClr val="1A1A1E"/>
                </a:solidFill>
                <a:latin typeface="Helvetica Neue"/>
              </a:rPr>
              <a:t>Corroboration is counted, not assumed: how many independent papers print the identical sequence.</a:t>
            </a:r>
          </a:p>
        </p:txBody>
      </p:sp>
      <p:sp>
        <p:nvSpPr>
          <p:cNvPr id="5" name="TextBox 4"/>
          <p:cNvSpPr txBox="1"/>
          <p:nvPr/>
        </p:nvSpPr>
        <p:spPr>
          <a:xfrm>
            <a:off x="6675120" y="1645920"/>
            <a:ext cx="2377440" cy="548640"/>
          </a:xfrm>
          <a:prstGeom prst="rect">
            <a:avLst/>
          </a:prstGeom>
          <a:noFill/>
        </p:spPr>
        <p:txBody>
          <a:bodyPr wrap="square" lIns="0" rIns="0" tIns="0" bIns="0">
            <a:spAutoFit/>
          </a:bodyPr>
          <a:lstStyle/>
          <a:p>
            <a:pPr algn="l">
              <a:lnSpc>
                <a:spcPct val="100000"/>
              </a:lnSpc>
              <a:spcAft>
                <a:spcPts val="800"/>
              </a:spcAft>
            </a:pPr>
            <a:r>
              <a:rPr sz="3400" b="1">
                <a:solidFill>
                  <a:srgbClr val="2F5CE5"/>
                </a:solidFill>
                <a:latin typeface="Helvetica Neue"/>
              </a:rPr>
              <a:t>53</a:t>
            </a:r>
          </a:p>
        </p:txBody>
      </p:sp>
      <p:sp>
        <p:nvSpPr>
          <p:cNvPr id="6" name="TextBox 5"/>
          <p:cNvSpPr txBox="1"/>
          <p:nvPr/>
        </p:nvSpPr>
        <p:spPr>
          <a:xfrm>
            <a:off x="6675120" y="2212848"/>
            <a:ext cx="2377440" cy="731520"/>
          </a:xfrm>
          <a:prstGeom prst="rect">
            <a:avLst/>
          </a:prstGeom>
          <a:noFill/>
        </p:spPr>
        <p:txBody>
          <a:bodyPr wrap="square" lIns="0" rIns="0" tIns="0" bIns="0">
            <a:spAutoFit/>
          </a:bodyPr>
          <a:lstStyle/>
          <a:p>
            <a:pPr algn="l">
              <a:lnSpc>
                <a:spcPct val="120000"/>
              </a:lnSpc>
              <a:spcAft>
                <a:spcPts val="800"/>
              </a:spcAft>
            </a:pPr>
            <a:r>
              <a:rPr sz="1200" b="0">
                <a:solidFill>
                  <a:srgbClr val="62626E"/>
                </a:solidFill>
                <a:latin typeface="Helvetica Neue"/>
              </a:rPr>
              <a:t>papers containing a
candidate sequence</a:t>
            </a:r>
          </a:p>
        </p:txBody>
      </p:sp>
      <p:sp>
        <p:nvSpPr>
          <p:cNvPr id="7" name="TextBox 6"/>
          <p:cNvSpPr txBox="1"/>
          <p:nvPr/>
        </p:nvSpPr>
        <p:spPr>
          <a:xfrm>
            <a:off x="9144000" y="1645920"/>
            <a:ext cx="2377440" cy="548640"/>
          </a:xfrm>
          <a:prstGeom prst="rect">
            <a:avLst/>
          </a:prstGeom>
          <a:noFill/>
        </p:spPr>
        <p:txBody>
          <a:bodyPr wrap="square" lIns="0" rIns="0" tIns="0" bIns="0">
            <a:spAutoFit/>
          </a:bodyPr>
          <a:lstStyle/>
          <a:p>
            <a:pPr algn="l">
              <a:lnSpc>
                <a:spcPct val="100000"/>
              </a:lnSpc>
              <a:spcAft>
                <a:spcPts val="800"/>
              </a:spcAft>
            </a:pPr>
            <a:r>
              <a:rPr sz="3400" b="1">
                <a:solidFill>
                  <a:srgbClr val="2F5CE5"/>
                </a:solidFill>
                <a:latin typeface="Helvetica Neue"/>
              </a:rPr>
              <a:t>10</a:t>
            </a:r>
          </a:p>
        </p:txBody>
      </p:sp>
      <p:sp>
        <p:nvSpPr>
          <p:cNvPr id="8" name="TextBox 7"/>
          <p:cNvSpPr txBox="1"/>
          <p:nvPr/>
        </p:nvSpPr>
        <p:spPr>
          <a:xfrm>
            <a:off x="9144000" y="2212848"/>
            <a:ext cx="2377440" cy="731520"/>
          </a:xfrm>
          <a:prstGeom prst="rect">
            <a:avLst/>
          </a:prstGeom>
          <a:noFill/>
        </p:spPr>
        <p:txBody>
          <a:bodyPr wrap="square" lIns="0" rIns="0" tIns="0" bIns="0">
            <a:spAutoFit/>
          </a:bodyPr>
          <a:lstStyle/>
          <a:p>
            <a:pPr algn="l">
              <a:lnSpc>
                <a:spcPct val="120000"/>
              </a:lnSpc>
              <a:spcAft>
                <a:spcPts val="800"/>
              </a:spcAft>
            </a:pPr>
            <a:r>
              <a:rPr sz="1200" b="0">
                <a:solidFill>
                  <a:srgbClr val="62626E"/>
                </a:solidFill>
                <a:latin typeface="Helvetica Neue"/>
              </a:rPr>
              <a:t>parents extracted
with attribution</a:t>
            </a:r>
          </a:p>
        </p:txBody>
      </p:sp>
      <p:sp>
        <p:nvSpPr>
          <p:cNvPr id="9" name="TextBox 8"/>
          <p:cNvSpPr txBox="1"/>
          <p:nvPr/>
        </p:nvSpPr>
        <p:spPr>
          <a:xfrm>
            <a:off x="6675120" y="3291840"/>
            <a:ext cx="2377440" cy="548640"/>
          </a:xfrm>
          <a:prstGeom prst="rect">
            <a:avLst/>
          </a:prstGeom>
          <a:noFill/>
        </p:spPr>
        <p:txBody>
          <a:bodyPr wrap="square" lIns="0" rIns="0" tIns="0" bIns="0">
            <a:spAutoFit/>
          </a:bodyPr>
          <a:lstStyle/>
          <a:p>
            <a:pPr algn="l">
              <a:lnSpc>
                <a:spcPct val="100000"/>
              </a:lnSpc>
              <a:spcAft>
                <a:spcPts val="800"/>
              </a:spcAft>
            </a:pPr>
            <a:r>
              <a:rPr sz="3400" b="1">
                <a:solidFill>
                  <a:srgbClr val="2F5CE5"/>
                </a:solidFill>
                <a:latin typeface="Helvetica Neue"/>
              </a:rPr>
              <a:t>3</a:t>
            </a:r>
          </a:p>
        </p:txBody>
      </p:sp>
      <p:sp>
        <p:nvSpPr>
          <p:cNvPr id="10" name="TextBox 9"/>
          <p:cNvSpPr txBox="1"/>
          <p:nvPr/>
        </p:nvSpPr>
        <p:spPr>
          <a:xfrm>
            <a:off x="6675120" y="3858768"/>
            <a:ext cx="2377440" cy="731520"/>
          </a:xfrm>
          <a:prstGeom prst="rect">
            <a:avLst/>
          </a:prstGeom>
          <a:noFill/>
        </p:spPr>
        <p:txBody>
          <a:bodyPr wrap="square" lIns="0" rIns="0" tIns="0" bIns="0">
            <a:spAutoFit/>
          </a:bodyPr>
          <a:lstStyle/>
          <a:p>
            <a:pPr algn="l">
              <a:lnSpc>
                <a:spcPct val="120000"/>
              </a:lnSpc>
              <a:spcAft>
                <a:spcPts val="800"/>
              </a:spcAft>
            </a:pPr>
            <a:r>
              <a:rPr sz="1200" b="0">
                <a:solidFill>
                  <a:srgbClr val="62626E"/>
                </a:solidFill>
                <a:latin typeface="Helvetica Neue"/>
              </a:rPr>
              <a:t>independent papers
print the chosen parent</a:t>
            </a:r>
          </a:p>
        </p:txBody>
      </p:sp>
      <p:sp>
        <p:nvSpPr>
          <p:cNvPr id="11" name="TextBox 10"/>
          <p:cNvSpPr txBox="1"/>
          <p:nvPr/>
        </p:nvSpPr>
        <p:spPr>
          <a:xfrm>
            <a:off x="9144000" y="3291840"/>
            <a:ext cx="2377440" cy="548640"/>
          </a:xfrm>
          <a:prstGeom prst="rect">
            <a:avLst/>
          </a:prstGeom>
          <a:noFill/>
        </p:spPr>
        <p:txBody>
          <a:bodyPr wrap="square" lIns="0" rIns="0" tIns="0" bIns="0">
            <a:spAutoFit/>
          </a:bodyPr>
          <a:lstStyle/>
          <a:p>
            <a:pPr algn="l">
              <a:lnSpc>
                <a:spcPct val="100000"/>
              </a:lnSpc>
              <a:spcAft>
                <a:spcPts val="800"/>
              </a:spcAft>
            </a:pPr>
            <a:r>
              <a:rPr sz="3400" b="1">
                <a:solidFill>
                  <a:srgbClr val="B45309"/>
                </a:solidFill>
                <a:latin typeface="Helvetica Neue"/>
              </a:rPr>
              <a:t>0</a:t>
            </a:r>
          </a:p>
        </p:txBody>
      </p:sp>
      <p:sp>
        <p:nvSpPr>
          <p:cNvPr id="12" name="TextBox 11"/>
          <p:cNvSpPr txBox="1"/>
          <p:nvPr/>
        </p:nvSpPr>
        <p:spPr>
          <a:xfrm>
            <a:off x="9144000" y="3858768"/>
            <a:ext cx="2377440" cy="731520"/>
          </a:xfrm>
          <a:prstGeom prst="rect">
            <a:avLst/>
          </a:prstGeom>
          <a:noFill/>
        </p:spPr>
        <p:txBody>
          <a:bodyPr wrap="square" lIns="0" rIns="0" tIns="0" bIns="0">
            <a:spAutoFit/>
          </a:bodyPr>
          <a:lstStyle/>
          <a:p>
            <a:pPr algn="l">
              <a:lnSpc>
                <a:spcPct val="120000"/>
              </a:lnSpc>
              <a:spcAft>
                <a:spcPts val="800"/>
              </a:spcAft>
            </a:pPr>
            <a:r>
              <a:rPr sz="1200" b="0">
                <a:solidFill>
                  <a:srgbClr val="62626E"/>
                </a:solidFill>
                <a:latin typeface="Helvetica Neue"/>
              </a:rPr>
              <a:t>affinities borrowed
from another aptamer</a:t>
            </a:r>
          </a:p>
        </p:txBody>
      </p:sp>
      <p:sp>
        <p:nvSpPr>
          <p:cNvPr id="13" name="TextBox 12"/>
          <p:cNvSpPr txBox="1"/>
          <p:nvPr/>
        </p:nvSpPr>
        <p:spPr>
          <a:xfrm>
            <a:off x="6675120" y="4663440"/>
            <a:ext cx="4846320" cy="914400"/>
          </a:xfrm>
          <a:prstGeom prst="rect">
            <a:avLst/>
          </a:prstGeom>
          <a:noFill/>
        </p:spPr>
        <p:txBody>
          <a:bodyPr wrap="square" lIns="0" rIns="0" tIns="0" bIns="0">
            <a:spAutoFit/>
          </a:bodyPr>
          <a:lstStyle/>
          <a:p>
            <a:pPr algn="l">
              <a:lnSpc>
                <a:spcPct val="125000"/>
              </a:lnSpc>
              <a:spcAft>
                <a:spcPts val="800"/>
              </a:spcAft>
            </a:pPr>
            <a:r>
              <a:rPr sz="1300" b="0">
                <a:solidFill>
                  <a:srgbClr val="62626E"/>
                </a:solidFill>
                <a:latin typeface="Helvetica Neue"/>
              </a:rPr>
              <a:t>No paper reports a Kd for this exact sequence, so every affinity-derived number is omitted rather than estimated. An earlier version borrowed 8.5 nM from an anti-IL-6-receptor aptamer and produced a full column of wrong figures, none marked as such.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274320"/>
          </a:xfrm>
          <a:prstGeom prst="rect">
            <a:avLst/>
          </a:prstGeom>
          <a:noFill/>
        </p:spPr>
        <p:txBody>
          <a:bodyPr wrap="square" lIns="0" rIns="0" tIns="0" bIns="0">
            <a:spAutoFit/>
          </a:bodyPr>
          <a:lstStyle/>
          <a:p>
            <a:pPr algn="l">
              <a:lnSpc>
                <a:spcPct val="125000"/>
              </a:lnSpc>
              <a:spcAft>
                <a:spcPts val="800"/>
              </a:spcAft>
            </a:pPr>
            <a:r>
              <a:rPr sz="1200" b="1">
                <a:solidFill>
                  <a:srgbClr val="2F5CE5"/>
                </a:solidFill>
                <a:latin typeface="Helvetica Neue"/>
              </a:rPr>
              <a:t>DESIGN</a:t>
            </a:r>
          </a:p>
        </p:txBody>
      </p:sp>
      <p:sp>
        <p:nvSpPr>
          <p:cNvPr id="3" name="TextBox 2"/>
          <p:cNvSpPr txBox="1"/>
          <p:nvPr/>
        </p:nvSpPr>
        <p:spPr>
          <a:xfrm>
            <a:off x="640080" y="777240"/>
            <a:ext cx="10911535" cy="640080"/>
          </a:xfrm>
          <a:prstGeom prst="rect">
            <a:avLst/>
          </a:prstGeom>
          <a:noFill/>
        </p:spPr>
        <p:txBody>
          <a:bodyPr wrap="square" lIns="0" rIns="0" tIns="0" bIns="0">
            <a:spAutoFit/>
          </a:bodyPr>
          <a:lstStyle/>
          <a:p>
            <a:pPr algn="l">
              <a:lnSpc>
                <a:spcPct val="105000"/>
              </a:lnSpc>
              <a:spcAft>
                <a:spcPts val="800"/>
              </a:spcAft>
            </a:pPr>
            <a:r>
              <a:rPr sz="3000" b="1">
                <a:solidFill>
                  <a:srgbClr val="1A1A1E"/>
                </a:solidFill>
                <a:latin typeface="Helvetica Neue"/>
              </a:rPr>
              <a:t>From 8,577 candidates to 96 wells</a:t>
            </a:r>
          </a:p>
        </p:txBody>
      </p:sp>
      <p:pic>
        <p:nvPicPr>
          <p:cNvPr id="4" name="Picture 3" descr="IL-6_funnel.png"/>
          <p:cNvPicPr>
            <a:picLocks noChangeAspect="1"/>
          </p:cNvPicPr>
          <p:nvPr/>
        </p:nvPicPr>
        <p:blipFill>
          <a:blip r:embed="rId2"/>
          <a:stretch>
            <a:fillRect/>
          </a:stretch>
        </p:blipFill>
        <p:spPr>
          <a:xfrm>
            <a:off x="640080" y="1554480"/>
            <a:ext cx="6035040" cy="2055632"/>
          </a:xfrm>
          <a:prstGeom prst="rect">
            <a:avLst/>
          </a:prstGeom>
        </p:spPr>
      </p:pic>
      <p:sp>
        <p:nvSpPr>
          <p:cNvPr id="5" name="TextBox 4"/>
          <p:cNvSpPr txBox="1"/>
          <p:nvPr/>
        </p:nvSpPr>
        <p:spPr>
          <a:xfrm>
            <a:off x="6949440" y="1554480"/>
            <a:ext cx="4572000" cy="3291840"/>
          </a:xfrm>
          <a:prstGeom prst="rect">
            <a:avLst/>
          </a:prstGeom>
          <a:noFill/>
        </p:spPr>
        <p:txBody>
          <a:bodyPr wrap="square" lIns="0" rIns="0" tIns="0" bIns="0">
            <a:spAutoFit/>
          </a:bodyPr>
          <a:lstStyle/>
          <a:p>
            <a:pPr algn="l">
              <a:lnSpc>
                <a:spcPct val="125000"/>
              </a:lnSpc>
              <a:spcAft>
                <a:spcPts val="800"/>
              </a:spcAft>
            </a:pPr>
            <a:r>
              <a:rPr sz="1600" b="0">
                <a:solidFill>
                  <a:srgbClr val="1A1A1E"/>
                </a:solidFill>
                <a:latin typeface="Helvetica Neue"/>
              </a:rPr>
              <a:t>8,577 variants enumerated, not sampled — every tail length, register, mismatch count and linker.</a:t>
            </a:r>
          </a:p>
          <a:p>
            <a:pPr algn="l">
              <a:lnSpc>
                <a:spcPct val="125000"/>
              </a:lnSpc>
              <a:spcAft>
                <a:spcPts val="800"/>
              </a:spcAft>
            </a:pPr>
            <a:r>
              <a:rPr sz="1600" b="0">
                <a:solidFill>
                  <a:srgbClr val="1A1A1E"/>
                </a:solidFill>
                <a:latin typeface="Helvetica Neue"/>
              </a:rPr>
              <a:t>3,366 land in the switching window; 642 also pass specificity, self-dimer, G-run, homopolymer and GC filters.</a:t>
            </a:r>
          </a:p>
          <a:p>
            <a:pPr algn="l">
              <a:lnSpc>
                <a:spcPct val="125000"/>
              </a:lnSpc>
              <a:spcAft>
                <a:spcPts val="800"/>
              </a:spcAft>
            </a:pPr>
            <a:r>
              <a:rPr sz="1600" b="0">
                <a:solidFill>
                  <a:srgbClr val="62626E"/>
                </a:solidFill>
                <a:latin typeface="Helvetica Neue"/>
              </a:rPr>
              <a:t>Filters run before tiling, not after. Tiling first leaves holes wherever a band happened to contain only dimerising designs, and the plate silently stops covering the range it claims to.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274320"/>
          </a:xfrm>
          <a:prstGeom prst="rect">
            <a:avLst/>
          </a:prstGeom>
          <a:noFill/>
        </p:spPr>
        <p:txBody>
          <a:bodyPr wrap="square" lIns="0" rIns="0" tIns="0" bIns="0">
            <a:spAutoFit/>
          </a:bodyPr>
          <a:lstStyle/>
          <a:p>
            <a:pPr algn="l">
              <a:lnSpc>
                <a:spcPct val="125000"/>
              </a:lnSpc>
              <a:spcAft>
                <a:spcPts val="800"/>
              </a:spcAft>
            </a:pPr>
            <a:r>
              <a:rPr sz="1200" b="1">
                <a:solidFill>
                  <a:srgbClr val="2F5CE5"/>
                </a:solidFill>
                <a:latin typeface="Helvetica Neue"/>
              </a:rPr>
              <a:t>THE HONEST CORE</a:t>
            </a:r>
          </a:p>
        </p:txBody>
      </p:sp>
      <p:sp>
        <p:nvSpPr>
          <p:cNvPr id="3" name="TextBox 2"/>
          <p:cNvSpPr txBox="1"/>
          <p:nvPr/>
        </p:nvSpPr>
        <p:spPr>
          <a:xfrm>
            <a:off x="640080" y="777240"/>
            <a:ext cx="10911535" cy="640080"/>
          </a:xfrm>
          <a:prstGeom prst="rect">
            <a:avLst/>
          </a:prstGeom>
          <a:noFill/>
        </p:spPr>
        <p:txBody>
          <a:bodyPr wrap="square" lIns="0" rIns="0" tIns="0" bIns="0">
            <a:spAutoFit/>
          </a:bodyPr>
          <a:lstStyle/>
          <a:p>
            <a:pPr algn="l">
              <a:lnSpc>
                <a:spcPct val="105000"/>
              </a:lnSpc>
              <a:spcAft>
                <a:spcPts val="800"/>
              </a:spcAft>
            </a:pPr>
            <a:r>
              <a:rPr sz="3000" b="1">
                <a:solidFill>
                  <a:srgbClr val="1A1A1E"/>
                </a:solidFill>
                <a:latin typeface="Helvetica Neue"/>
              </a:rPr>
              <a:t>We tile the window instead of ranking it</a:t>
            </a:r>
          </a:p>
        </p:txBody>
      </p:sp>
      <p:pic>
        <p:nvPicPr>
          <p:cNvPr id="4" name="Picture 3" descr="IL-6_window.png"/>
          <p:cNvPicPr>
            <a:picLocks noChangeAspect="1"/>
          </p:cNvPicPr>
          <p:nvPr/>
        </p:nvPicPr>
        <p:blipFill>
          <a:blip r:embed="rId2"/>
          <a:stretch>
            <a:fillRect/>
          </a:stretch>
        </p:blipFill>
        <p:spPr>
          <a:xfrm>
            <a:off x="640080" y="1554480"/>
            <a:ext cx="6400800" cy="2758966"/>
          </a:xfrm>
          <a:prstGeom prst="rect">
            <a:avLst/>
          </a:prstGeom>
        </p:spPr>
      </p:pic>
      <p:sp>
        <p:nvSpPr>
          <p:cNvPr id="5" name="TextBox 4"/>
          <p:cNvSpPr txBox="1"/>
          <p:nvPr/>
        </p:nvSpPr>
        <p:spPr>
          <a:xfrm>
            <a:off x="7315200" y="1554480"/>
            <a:ext cx="4206240" cy="3474720"/>
          </a:xfrm>
          <a:prstGeom prst="rect">
            <a:avLst/>
          </a:prstGeom>
          <a:noFill/>
        </p:spPr>
        <p:txBody>
          <a:bodyPr wrap="square" lIns="0" rIns="0" tIns="0" bIns="0">
            <a:spAutoFit/>
          </a:bodyPr>
          <a:lstStyle/>
          <a:p>
            <a:pPr algn="l">
              <a:lnSpc>
                <a:spcPct val="125000"/>
              </a:lnSpc>
              <a:spcAft>
                <a:spcPts val="800"/>
              </a:spcAft>
            </a:pPr>
            <a:r>
              <a:rPr sz="1600" b="0">
                <a:solidFill>
                  <a:srgbClr val="1A1A1E"/>
                </a:solidFill>
                <a:latin typeface="Helvetica Neue"/>
              </a:rPr>
              <a:t>Taking the top 96 by predicted energy gives 96 near-identical sequences and one bit of information.</a:t>
            </a:r>
          </a:p>
          <a:p>
            <a:pPr algn="l">
              <a:lnSpc>
                <a:spcPct val="125000"/>
              </a:lnSpc>
              <a:spcAft>
                <a:spcPts val="800"/>
              </a:spcAft>
            </a:pPr>
            <a:r>
              <a:rPr sz="1600" b="0">
                <a:solidFill>
                  <a:srgbClr val="1A1A1E"/>
                </a:solidFill>
                <a:latin typeface="Helvetica Neue"/>
              </a:rPr>
              <a:t>If the model's centre is off by a kcal/mol — and near zero it can be — every well fails together and the round teaches nothing.</a:t>
            </a:r>
          </a:p>
          <a:p>
            <a:pPr algn="l">
              <a:lnSpc>
                <a:spcPct val="125000"/>
              </a:lnSpc>
              <a:spcAft>
                <a:spcPts val="800"/>
              </a:spcAft>
            </a:pPr>
            <a:r>
              <a:rPr sz="1600" b="1">
                <a:solidFill>
                  <a:srgbClr val="1A1A1E"/>
                </a:solidFill>
                <a:latin typeface="Helvetica Neue"/>
              </a:rPr>
              <a:t>So the plate spans eight energy bands, 11 wells each, chosen to be mechanistically unalike within a band. The experiment returns the shape of the response and locates the optimum even when the prediction is wrong.</a:t>
            </a:r>
          </a:p>
          <a:p>
            <a:pPr algn="l">
              <a:lnSpc>
                <a:spcPct val="125000"/>
              </a:lnSpc>
              <a:spcAft>
                <a:spcPts val="800"/>
              </a:spcAft>
            </a:pPr>
            <a:r>
              <a:rPr sz="1400" b="0">
                <a:solidFill>
                  <a:srgbClr val="62626E"/>
                </a:solidFill>
                <a:latin typeface="Helvetica Neue"/>
              </a:rPr>
              <a:t>Plate position is randomised against ddG and checked against a 2,000-permutation null: row spread 0.555 vs 1.345 at the 95th percentile.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274320"/>
          </a:xfrm>
          <a:prstGeom prst="rect">
            <a:avLst/>
          </a:prstGeom>
          <a:noFill/>
        </p:spPr>
        <p:txBody>
          <a:bodyPr wrap="square" lIns="0" rIns="0" tIns="0" bIns="0">
            <a:spAutoFit/>
          </a:bodyPr>
          <a:lstStyle/>
          <a:p>
            <a:pPr algn="l">
              <a:lnSpc>
                <a:spcPct val="125000"/>
              </a:lnSpc>
              <a:spcAft>
                <a:spcPts val="800"/>
              </a:spcAft>
            </a:pPr>
            <a:r>
              <a:rPr sz="1200" b="1">
                <a:solidFill>
                  <a:srgbClr val="2F5CE5"/>
                </a:solidFill>
                <a:latin typeface="Helvetica Neue"/>
              </a:rPr>
              <a:t>WHAT MOST TOOLS SKIP</a:t>
            </a:r>
          </a:p>
        </p:txBody>
      </p:sp>
      <p:sp>
        <p:nvSpPr>
          <p:cNvPr id="3" name="TextBox 2"/>
          <p:cNvSpPr txBox="1"/>
          <p:nvPr/>
        </p:nvSpPr>
        <p:spPr>
          <a:xfrm>
            <a:off x="640080" y="777240"/>
            <a:ext cx="10911535" cy="640080"/>
          </a:xfrm>
          <a:prstGeom prst="rect">
            <a:avLst/>
          </a:prstGeom>
          <a:noFill/>
        </p:spPr>
        <p:txBody>
          <a:bodyPr wrap="square" lIns="0" rIns="0" tIns="0" bIns="0">
            <a:spAutoFit/>
          </a:bodyPr>
          <a:lstStyle/>
          <a:p>
            <a:pPr algn="l">
              <a:lnSpc>
                <a:spcPct val="105000"/>
              </a:lnSpc>
              <a:spcAft>
                <a:spcPts val="800"/>
              </a:spcAft>
            </a:pPr>
            <a:r>
              <a:rPr sz="3000" b="1">
                <a:solidFill>
                  <a:srgbClr val="1A1A1E"/>
                </a:solidFill>
                <a:latin typeface="Helvetica Neue"/>
              </a:rPr>
              <a:t>Then we tested our own assumption, and it failed</a:t>
            </a:r>
          </a:p>
        </p:txBody>
      </p:sp>
      <p:sp>
        <p:nvSpPr>
          <p:cNvPr id="4" name="TextBox 3"/>
          <p:cNvSpPr txBox="1"/>
          <p:nvPr/>
        </p:nvSpPr>
        <p:spPr>
          <a:xfrm>
            <a:off x="640080" y="1554480"/>
            <a:ext cx="10881360" cy="1097280"/>
          </a:xfrm>
          <a:prstGeom prst="rect">
            <a:avLst/>
          </a:prstGeom>
          <a:noFill/>
        </p:spPr>
        <p:txBody>
          <a:bodyPr wrap="square" lIns="0" rIns="0" tIns="0" bIns="0">
            <a:spAutoFit/>
          </a:bodyPr>
          <a:lstStyle/>
          <a:p>
            <a:pPr algn="l">
              <a:lnSpc>
                <a:spcPct val="125000"/>
              </a:lnSpc>
              <a:spcAft>
                <a:spcPts val="800"/>
              </a:spcAft>
            </a:pPr>
            <a:r>
              <a:rPr sz="1800" b="0">
                <a:solidFill>
                  <a:srgbClr val="1A1A1E"/>
                </a:solidFill>
                <a:latin typeface="Helvetica Neue"/>
              </a:rPr>
              <a:t>No paper maps where IL-6 contacts this aptamer. Every energy in the design is computed against an assumed binding core — so we swept the assumption and re-designed under each one.</a:t>
            </a:r>
          </a:p>
        </p:txBody>
      </p:sp>
      <p:sp>
        <p:nvSpPr>
          <p:cNvPr id="5" name="TextBox 4"/>
          <p:cNvSpPr txBox="1"/>
          <p:nvPr/>
        </p:nvSpPr>
        <p:spPr>
          <a:xfrm>
            <a:off x="640080" y="2743200"/>
            <a:ext cx="2377440" cy="548640"/>
          </a:xfrm>
          <a:prstGeom prst="rect">
            <a:avLst/>
          </a:prstGeom>
          <a:noFill/>
        </p:spPr>
        <p:txBody>
          <a:bodyPr wrap="square" lIns="0" rIns="0" tIns="0" bIns="0">
            <a:spAutoFit/>
          </a:bodyPr>
          <a:lstStyle/>
          <a:p>
            <a:pPr algn="l">
              <a:lnSpc>
                <a:spcPct val="100000"/>
              </a:lnSpc>
              <a:spcAft>
                <a:spcPts val="800"/>
              </a:spcAft>
            </a:pPr>
            <a:r>
              <a:rPr sz="3400" b="1">
                <a:solidFill>
                  <a:srgbClr val="2F5CE5"/>
                </a:solidFill>
                <a:latin typeface="Helvetica Neue"/>
              </a:rPr>
              <a:t>2 of 4</a:t>
            </a:r>
          </a:p>
        </p:txBody>
      </p:sp>
      <p:sp>
        <p:nvSpPr>
          <p:cNvPr id="6" name="TextBox 5"/>
          <p:cNvSpPr txBox="1"/>
          <p:nvPr/>
        </p:nvSpPr>
        <p:spPr>
          <a:xfrm>
            <a:off x="640080" y="3310128"/>
            <a:ext cx="2377440" cy="731520"/>
          </a:xfrm>
          <a:prstGeom prst="rect">
            <a:avLst/>
          </a:prstGeom>
          <a:noFill/>
        </p:spPr>
        <p:txBody>
          <a:bodyPr wrap="square" lIns="0" rIns="0" tIns="0" bIns="0">
            <a:spAutoFit/>
          </a:bodyPr>
          <a:lstStyle/>
          <a:p>
            <a:pPr algn="l">
              <a:lnSpc>
                <a:spcPct val="120000"/>
              </a:lnSpc>
              <a:spcAft>
                <a:spcPts val="800"/>
              </a:spcAft>
            </a:pPr>
            <a:r>
              <a:rPr sz="1200" b="0">
                <a:solidFill>
                  <a:srgbClr val="62626E"/>
                </a:solidFill>
                <a:latin typeface="Helvetica Neue"/>
              </a:rPr>
              <a:t>core hypotheses yield
any usable plate at all</a:t>
            </a:r>
          </a:p>
        </p:txBody>
      </p:sp>
      <p:sp>
        <p:nvSpPr>
          <p:cNvPr id="7" name="TextBox 6"/>
          <p:cNvSpPr txBox="1"/>
          <p:nvPr/>
        </p:nvSpPr>
        <p:spPr>
          <a:xfrm>
            <a:off x="3840480" y="2743200"/>
            <a:ext cx="2377440" cy="548640"/>
          </a:xfrm>
          <a:prstGeom prst="rect">
            <a:avLst/>
          </a:prstGeom>
          <a:noFill/>
        </p:spPr>
        <p:txBody>
          <a:bodyPr wrap="square" lIns="0" rIns="0" tIns="0" bIns="0">
            <a:spAutoFit/>
          </a:bodyPr>
          <a:lstStyle/>
          <a:p>
            <a:pPr algn="l">
              <a:lnSpc>
                <a:spcPct val="100000"/>
              </a:lnSpc>
              <a:spcAft>
                <a:spcPts val="800"/>
              </a:spcAft>
            </a:pPr>
            <a:r>
              <a:rPr sz="3400" b="1">
                <a:solidFill>
                  <a:srgbClr val="B45309"/>
                </a:solidFill>
                <a:latin typeface="Helvetica Neue"/>
              </a:rPr>
              <a:t>0</a:t>
            </a:r>
          </a:p>
        </p:txBody>
      </p:sp>
      <p:sp>
        <p:nvSpPr>
          <p:cNvPr id="8" name="TextBox 7"/>
          <p:cNvSpPr txBox="1"/>
          <p:nvPr/>
        </p:nvSpPr>
        <p:spPr>
          <a:xfrm>
            <a:off x="3840480" y="3310128"/>
            <a:ext cx="2377440" cy="731520"/>
          </a:xfrm>
          <a:prstGeom prst="rect">
            <a:avLst/>
          </a:prstGeom>
          <a:noFill/>
        </p:spPr>
        <p:txBody>
          <a:bodyPr wrap="square" lIns="0" rIns="0" tIns="0" bIns="0">
            <a:spAutoFit/>
          </a:bodyPr>
          <a:lstStyle/>
          <a:p>
            <a:pPr algn="l">
              <a:lnSpc>
                <a:spcPct val="120000"/>
              </a:lnSpc>
              <a:spcAft>
                <a:spcPts val="800"/>
              </a:spcAft>
            </a:pPr>
            <a:r>
              <a:rPr sz="1200" b="0">
                <a:solidFill>
                  <a:srgbClr val="62626E"/>
                </a:solidFill>
                <a:latin typeface="Helvetica Neue"/>
              </a:rPr>
              <a:t>designs survive
every core hypothesis</a:t>
            </a:r>
          </a:p>
        </p:txBody>
      </p:sp>
      <p:sp>
        <p:nvSpPr>
          <p:cNvPr id="9" name="TextBox 8"/>
          <p:cNvSpPr txBox="1"/>
          <p:nvPr/>
        </p:nvSpPr>
        <p:spPr>
          <a:xfrm>
            <a:off x="6949440" y="2743200"/>
            <a:ext cx="2377440" cy="548640"/>
          </a:xfrm>
          <a:prstGeom prst="rect">
            <a:avLst/>
          </a:prstGeom>
          <a:noFill/>
        </p:spPr>
        <p:txBody>
          <a:bodyPr wrap="square" lIns="0" rIns="0" tIns="0" bIns="0">
            <a:spAutoFit/>
          </a:bodyPr>
          <a:lstStyle/>
          <a:p>
            <a:pPr algn="l">
              <a:lnSpc>
                <a:spcPct val="100000"/>
              </a:lnSpc>
              <a:spcAft>
                <a:spcPts val="800"/>
              </a:spcAft>
            </a:pPr>
            <a:r>
              <a:rPr sz="3400" b="1">
                <a:solidFill>
                  <a:srgbClr val="2F5CE5"/>
                </a:solidFill>
                <a:latin typeface="Helvetica Neue"/>
              </a:rPr>
              <a:t>176</a:t>
            </a:r>
          </a:p>
        </p:txBody>
      </p:sp>
      <p:sp>
        <p:nvSpPr>
          <p:cNvPr id="10" name="TextBox 9"/>
          <p:cNvSpPr txBox="1"/>
          <p:nvPr/>
        </p:nvSpPr>
        <p:spPr>
          <a:xfrm>
            <a:off x="6949440" y="3310128"/>
            <a:ext cx="2377440" cy="731520"/>
          </a:xfrm>
          <a:prstGeom prst="rect">
            <a:avLst/>
          </a:prstGeom>
          <a:noFill/>
        </p:spPr>
        <p:txBody>
          <a:bodyPr wrap="square" lIns="0" rIns="0" tIns="0" bIns="0">
            <a:spAutoFit/>
          </a:bodyPr>
          <a:lstStyle/>
          <a:p>
            <a:pPr algn="l">
              <a:lnSpc>
                <a:spcPct val="120000"/>
              </a:lnSpc>
              <a:spcAft>
                <a:spcPts val="800"/>
              </a:spcAft>
            </a:pPr>
            <a:r>
              <a:rPr sz="1200" b="0">
                <a:solidFill>
                  <a:srgbClr val="62626E"/>
                </a:solidFill>
                <a:latin typeface="Helvetica Neue"/>
              </a:rPr>
              <a:t>designs total across
the productive cores</a:t>
            </a:r>
          </a:p>
        </p:txBody>
      </p:sp>
      <p:sp>
        <p:nvSpPr>
          <p:cNvPr id="11" name="TextBox 10"/>
          <p:cNvSpPr txBox="1"/>
          <p:nvPr/>
        </p:nvSpPr>
        <p:spPr>
          <a:xfrm>
            <a:off x="640080" y="4480560"/>
            <a:ext cx="10881360" cy="1463040"/>
          </a:xfrm>
          <a:prstGeom prst="rect">
            <a:avLst/>
          </a:prstGeom>
          <a:noFill/>
        </p:spPr>
        <p:txBody>
          <a:bodyPr wrap="square" lIns="0" rIns="0" tIns="0" bIns="0">
            <a:spAutoFit/>
          </a:bodyPr>
          <a:lstStyle/>
          <a:p>
            <a:pPr algn="l">
              <a:lnSpc>
                <a:spcPct val="125000"/>
              </a:lnSpc>
              <a:spcAft>
                <a:spcPts val="800"/>
              </a:spcAft>
            </a:pPr>
            <a:r>
              <a:rPr sz="2000" b="1">
                <a:solidFill>
                  <a:srgbClr val="B45309"/>
                </a:solidFill>
                <a:latin typeface="Helvetica Neue"/>
              </a:rPr>
              <a:t>The plate was an artefact of an assumption we could not check.</a:t>
            </a:r>
          </a:p>
          <a:p>
            <a:pPr algn="l">
              <a:lnSpc>
                <a:spcPct val="125000"/>
              </a:lnSpc>
              <a:spcAft>
                <a:spcPts val="800"/>
              </a:spcAft>
            </a:pPr>
            <a:r>
              <a:rPr sz="1700" b="0">
                <a:solidFill>
                  <a:srgbClr val="62626E"/>
                </a:solidFill>
                <a:latin typeface="Helvetica Neue"/>
              </a:rPr>
              <a:t>"Do not order" is not an answer a wet lab can act on — they have a budget, a synthesis slot and a question. Refusing to choose is not rigour; it passes the problem back.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274320"/>
          </a:xfrm>
          <a:prstGeom prst="rect">
            <a:avLst/>
          </a:prstGeom>
          <a:noFill/>
        </p:spPr>
        <p:txBody>
          <a:bodyPr wrap="square" lIns="0" rIns="0" tIns="0" bIns="0">
            <a:spAutoFit/>
          </a:bodyPr>
          <a:lstStyle/>
          <a:p>
            <a:pPr algn="l">
              <a:lnSpc>
                <a:spcPct val="125000"/>
              </a:lnSpc>
              <a:spcAft>
                <a:spcPts val="800"/>
              </a:spcAft>
            </a:pPr>
            <a:r>
              <a:rPr sz="1200" b="1">
                <a:solidFill>
                  <a:srgbClr val="2F5CE5"/>
                </a:solidFill>
                <a:latin typeface="Helvetica Neue"/>
              </a:rPr>
              <a:t>THE DELIVERABLE</a:t>
            </a:r>
          </a:p>
        </p:txBody>
      </p:sp>
      <p:sp>
        <p:nvSpPr>
          <p:cNvPr id="3" name="TextBox 2"/>
          <p:cNvSpPr txBox="1"/>
          <p:nvPr/>
        </p:nvSpPr>
        <p:spPr>
          <a:xfrm>
            <a:off x="640080" y="777240"/>
            <a:ext cx="10911535" cy="640080"/>
          </a:xfrm>
          <a:prstGeom prst="rect">
            <a:avLst/>
          </a:prstGeom>
          <a:noFill/>
        </p:spPr>
        <p:txBody>
          <a:bodyPr wrap="square" lIns="0" rIns="0" tIns="0" bIns="0">
            <a:spAutoFit/>
          </a:bodyPr>
          <a:lstStyle/>
          <a:p>
            <a:pPr algn="l">
              <a:lnSpc>
                <a:spcPct val="105000"/>
              </a:lnSpc>
              <a:spcAft>
                <a:spcPts val="800"/>
              </a:spcAft>
            </a:pPr>
            <a:r>
              <a:rPr sz="3000" b="1">
                <a:solidFill>
                  <a:srgbClr val="1A1A1E"/>
                </a:solidFill>
                <a:latin typeface="Helvetica Neue"/>
              </a:rPr>
              <a:t>So we spend the plate on the uncertainty</a:t>
            </a:r>
          </a:p>
        </p:txBody>
      </p:sp>
      <p:pic>
        <p:nvPicPr>
          <p:cNvPr id="4" name="Picture 3" descr="IL-6_plate.png"/>
          <p:cNvPicPr>
            <a:picLocks noChangeAspect="1"/>
          </p:cNvPicPr>
          <p:nvPr/>
        </p:nvPicPr>
        <p:blipFill>
          <a:blip r:embed="rId2"/>
          <a:stretch>
            <a:fillRect/>
          </a:stretch>
        </p:blipFill>
        <p:spPr>
          <a:xfrm>
            <a:off x="640080" y="1554480"/>
            <a:ext cx="5852160" cy="2962519"/>
          </a:xfrm>
          <a:prstGeom prst="rect">
            <a:avLst/>
          </a:prstGeom>
        </p:spPr>
      </p:pic>
      <p:sp>
        <p:nvSpPr>
          <p:cNvPr id="5" name="TextBox 4"/>
          <p:cNvSpPr txBox="1"/>
          <p:nvPr/>
        </p:nvSpPr>
        <p:spPr>
          <a:xfrm>
            <a:off x="6766560" y="1554480"/>
            <a:ext cx="4754880" cy="3657600"/>
          </a:xfrm>
          <a:prstGeom prst="rect">
            <a:avLst/>
          </a:prstGeom>
          <a:noFill/>
        </p:spPr>
        <p:txBody>
          <a:bodyPr wrap="square" lIns="0" rIns="0" tIns="0" bIns="0">
            <a:spAutoFit/>
          </a:bodyPr>
          <a:lstStyle/>
          <a:p>
            <a:pPr algn="l">
              <a:lnSpc>
                <a:spcPct val="125000"/>
              </a:lnSpc>
              <a:spcAft>
                <a:spcPts val="800"/>
              </a:spcAft>
            </a:pPr>
            <a:r>
              <a:rPr sz="1700" b="0">
                <a:solidFill>
                  <a:srgbClr val="1A1A1E"/>
                </a:solidFill>
                <a:latin typeface="Helvetica Neue"/>
              </a:rPr>
              <a:t>One 96-well plate, allocated across both surviving core hypotheses, every well labelled with the hypothesis it belongs to.</a:t>
            </a:r>
          </a:p>
          <a:p>
            <a:pPr algn="l">
              <a:lnSpc>
                <a:spcPct val="125000"/>
              </a:lnSpc>
              <a:spcAft>
                <a:spcPts val="800"/>
              </a:spcAft>
            </a:pPr>
            <a:r>
              <a:rPr sz="1500" b="1">
                <a:solidFill>
                  <a:srgbClr val="2F5CE5"/>
                </a:solidFill>
                <a:latin typeface="Helvetica Neue"/>
              </a:rPr>
              <a:t>control: 8 wells · core 1-15: 44 wells · core 16-30: 44 wells</a:t>
            </a:r>
          </a:p>
          <a:p>
            <a:pPr algn="l">
              <a:lnSpc>
                <a:spcPct val="125000"/>
              </a:lnSpc>
              <a:spcAft>
                <a:spcPts val="800"/>
              </a:spcAft>
            </a:pPr>
            <a:r>
              <a:rPr sz="1700" b="0">
                <a:solidFill>
                  <a:srgbClr val="1A1A1E"/>
                </a:solidFill>
                <a:latin typeface="Helvetica Neue"/>
              </a:rPr>
              <a:t>Read it twice: which switches work, and which core was right. A hypothesis with no responsive well is eliminated — the epitope question answered by a synthesis run that was happening anyway.</a:t>
            </a:r>
          </a:p>
          <a:p>
            <a:pPr algn="l">
              <a:lnSpc>
                <a:spcPct val="125000"/>
              </a:lnSpc>
              <a:spcAft>
                <a:spcPts val="800"/>
              </a:spcAft>
            </a:pPr>
            <a:r>
              <a:rPr sz="1400" b="0">
                <a:solidFill>
                  <a:srgbClr val="62626E"/>
                </a:solidFill>
                <a:latin typeface="Helvetica Neue"/>
              </a:rPr>
              <a:t>Wells are randomised against hypothesis as well as against energy. Split by hypothesis into rows A–D and E–H and any row gradient is perfectly confounded with the comparison. Controls are shared, not duplicated: they report on the assay, not the core.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274320"/>
          </a:xfrm>
          <a:prstGeom prst="rect">
            <a:avLst/>
          </a:prstGeom>
          <a:noFill/>
        </p:spPr>
        <p:txBody>
          <a:bodyPr wrap="square" lIns="0" rIns="0" tIns="0" bIns="0">
            <a:spAutoFit/>
          </a:bodyPr>
          <a:lstStyle/>
          <a:p>
            <a:pPr algn="l">
              <a:lnSpc>
                <a:spcPct val="125000"/>
              </a:lnSpc>
              <a:spcAft>
                <a:spcPts val="800"/>
              </a:spcAft>
            </a:pPr>
            <a:r>
              <a:rPr sz="1200" b="1">
                <a:solidFill>
                  <a:srgbClr val="2F5CE5"/>
                </a:solidFill>
                <a:latin typeface="Helvetica Neue"/>
              </a:rPr>
              <a:t>DESIGN → BUILD → TEST → LEARN</a:t>
            </a:r>
          </a:p>
        </p:txBody>
      </p:sp>
      <p:sp>
        <p:nvSpPr>
          <p:cNvPr id="3" name="TextBox 2"/>
          <p:cNvSpPr txBox="1"/>
          <p:nvPr/>
        </p:nvSpPr>
        <p:spPr>
          <a:xfrm>
            <a:off x="640080" y="777240"/>
            <a:ext cx="10911535" cy="640080"/>
          </a:xfrm>
          <a:prstGeom prst="rect">
            <a:avLst/>
          </a:prstGeom>
          <a:noFill/>
        </p:spPr>
        <p:txBody>
          <a:bodyPr wrap="square" lIns="0" rIns="0" tIns="0" bIns="0">
            <a:spAutoFit/>
          </a:bodyPr>
          <a:lstStyle/>
          <a:p>
            <a:pPr algn="l">
              <a:lnSpc>
                <a:spcPct val="105000"/>
              </a:lnSpc>
              <a:spcAft>
                <a:spcPts val="800"/>
              </a:spcAft>
            </a:pPr>
            <a:r>
              <a:rPr sz="3000" b="1">
                <a:solidFill>
                  <a:srgbClr val="1A1A1E"/>
                </a:solidFill>
                <a:latin typeface="Helvetica Neue"/>
              </a:rPr>
              <a:t>The bench answers, and the next round moves</a:t>
            </a:r>
          </a:p>
        </p:txBody>
      </p:sp>
      <p:pic>
        <p:nvPicPr>
          <p:cNvPr id="4" name="Picture 3" descr="feedback.png"/>
          <p:cNvPicPr>
            <a:picLocks noChangeAspect="1"/>
          </p:cNvPicPr>
          <p:nvPr/>
        </p:nvPicPr>
        <p:blipFill>
          <a:blip r:embed="rId2"/>
          <a:stretch>
            <a:fillRect/>
          </a:stretch>
        </p:blipFill>
        <p:spPr>
          <a:xfrm>
            <a:off x="640080" y="1554480"/>
            <a:ext cx="6217920" cy="3865194"/>
          </a:xfrm>
          <a:prstGeom prst="rect">
            <a:avLst/>
          </a:prstGeom>
        </p:spPr>
      </p:pic>
      <p:sp>
        <p:nvSpPr>
          <p:cNvPr id="5" name="TextBox 4"/>
          <p:cNvSpPr txBox="1"/>
          <p:nvPr/>
        </p:nvSpPr>
        <p:spPr>
          <a:xfrm>
            <a:off x="7132320" y="1554480"/>
            <a:ext cx="4389120" cy="3840480"/>
          </a:xfrm>
          <a:prstGeom prst="rect">
            <a:avLst/>
          </a:prstGeom>
          <a:noFill/>
        </p:spPr>
        <p:txBody>
          <a:bodyPr wrap="square" lIns="0" rIns="0" tIns="0" bIns="0">
            <a:spAutoFit/>
          </a:bodyPr>
          <a:lstStyle/>
          <a:p>
            <a:pPr algn="l">
              <a:lnSpc>
                <a:spcPct val="125000"/>
              </a:lnSpc>
              <a:spcAft>
                <a:spcPts val="800"/>
              </a:spcAft>
            </a:pPr>
            <a:r>
              <a:rPr sz="1600" b="0">
                <a:solidFill>
                  <a:srgbClr val="1A1A1E"/>
                </a:solidFill>
                <a:latin typeface="Helvetica Neue"/>
              </a:rPr>
              <a:t>Upload a results CSV and the agent reads it before it designs anything.</a:t>
            </a:r>
          </a:p>
          <a:p>
            <a:pPr algn="l">
              <a:lnSpc>
                <a:spcPct val="125000"/>
              </a:lnSpc>
              <a:spcAft>
                <a:spcPts val="800"/>
              </a:spcAft>
            </a:pPr>
            <a:r>
              <a:rPr sz="1500" b="1">
                <a:solidFill>
                  <a:srgbClr val="2F5CE5"/>
                </a:solidFill>
                <a:latin typeface="Helvetica Neue"/>
              </a:rPr>
              <a:t>core 1-15: 40/44 wells responded, median 28.45%</a:t>
            </a:r>
          </a:p>
          <a:p>
            <a:pPr algn="l">
              <a:lnSpc>
                <a:spcPct val="125000"/>
              </a:lnSpc>
              <a:spcAft>
                <a:spcPts val="800"/>
              </a:spcAft>
            </a:pPr>
            <a:r>
              <a:rPr sz="1500" b="1">
                <a:solidFill>
                  <a:srgbClr val="62626E"/>
                </a:solidFill>
                <a:latin typeface="Helvetica Neue"/>
              </a:rPr>
              <a:t>core 16-30: 5/44 wells responded, median 0.0%</a:t>
            </a:r>
          </a:p>
          <a:p>
            <a:pPr algn="l">
              <a:lnSpc>
                <a:spcPct val="125000"/>
              </a:lnSpc>
              <a:spcAft>
                <a:spcPts val="800"/>
              </a:spcAft>
            </a:pPr>
            <a:r>
              <a:rPr sz="1600" b="0">
                <a:solidFill>
                  <a:srgbClr val="1A1A1E"/>
                </a:solidFill>
                <a:latin typeface="Helvetica Neue"/>
              </a:rPr>
              <a:t>One plate settles the epitope question. The window recentres on the measured optimum (ddG +0.08), not the predicted one.</a:t>
            </a:r>
          </a:p>
          <a:p>
            <a:pPr algn="l">
              <a:lnSpc>
                <a:spcPct val="125000"/>
              </a:lnSpc>
              <a:spcAft>
                <a:spcPts val="800"/>
              </a:spcAft>
            </a:pPr>
            <a:r>
              <a:rPr sz="1600" b="1">
                <a:solidFill>
                  <a:srgbClr val="B45309"/>
                </a:solidFill>
                <a:latin typeface="Helvetica Neue"/>
              </a:rPr>
              <a:t>And on a pure-noise plate it reports ρ=-0.117, p=0.2599 and refuses to recentre. Every correlation is tested against a 2,000-permutation null before it is allowed to move a design.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274320"/>
          </a:xfrm>
          <a:prstGeom prst="rect">
            <a:avLst/>
          </a:prstGeom>
          <a:noFill/>
        </p:spPr>
        <p:txBody>
          <a:bodyPr wrap="square" lIns="0" rIns="0" tIns="0" bIns="0">
            <a:spAutoFit/>
          </a:bodyPr>
          <a:lstStyle/>
          <a:p>
            <a:pPr algn="l">
              <a:lnSpc>
                <a:spcPct val="125000"/>
              </a:lnSpc>
              <a:spcAft>
                <a:spcPts val="800"/>
              </a:spcAft>
            </a:pPr>
            <a:r>
              <a:rPr sz="1200" b="1">
                <a:solidFill>
                  <a:srgbClr val="2F5CE5"/>
                </a:solidFill>
                <a:latin typeface="Helvetica Neue"/>
              </a:rPr>
              <a:t>WHAT DID NOT WORK</a:t>
            </a:r>
          </a:p>
        </p:txBody>
      </p:sp>
      <p:sp>
        <p:nvSpPr>
          <p:cNvPr id="3" name="TextBox 2"/>
          <p:cNvSpPr txBox="1"/>
          <p:nvPr/>
        </p:nvSpPr>
        <p:spPr>
          <a:xfrm>
            <a:off x="640080" y="777240"/>
            <a:ext cx="10911535" cy="640080"/>
          </a:xfrm>
          <a:prstGeom prst="rect">
            <a:avLst/>
          </a:prstGeom>
          <a:noFill/>
        </p:spPr>
        <p:txBody>
          <a:bodyPr wrap="square" lIns="0" rIns="0" tIns="0" bIns="0">
            <a:spAutoFit/>
          </a:bodyPr>
          <a:lstStyle/>
          <a:p>
            <a:pPr algn="l">
              <a:lnSpc>
                <a:spcPct val="105000"/>
              </a:lnSpc>
              <a:spcAft>
                <a:spcPts val="800"/>
              </a:spcAft>
            </a:pPr>
            <a:r>
              <a:rPr sz="3000" b="1">
                <a:solidFill>
                  <a:srgbClr val="1A1A1E"/>
                </a:solidFill>
                <a:latin typeface="Helvetica Neue"/>
              </a:rPr>
              <a:t>Three models we tried, controlled, and threw away</a:t>
            </a:r>
          </a:p>
        </p:txBody>
      </p:sp>
      <p:sp>
        <p:nvSpPr>
          <p:cNvPr id="4" name="TextBox 3"/>
          <p:cNvSpPr txBox="1"/>
          <p:nvPr/>
        </p:nvSpPr>
        <p:spPr>
          <a:xfrm>
            <a:off x="640080" y="1554480"/>
            <a:ext cx="10881360" cy="274320"/>
          </a:xfrm>
          <a:prstGeom prst="rect">
            <a:avLst/>
          </a:prstGeom>
          <a:noFill/>
        </p:spPr>
        <p:txBody>
          <a:bodyPr wrap="square" lIns="0" rIns="0" tIns="0" bIns="0">
            <a:spAutoFit/>
          </a:bodyPr>
          <a:lstStyle/>
          <a:p>
            <a:pPr algn="l">
              <a:lnSpc>
                <a:spcPct val="100000"/>
              </a:lnSpc>
              <a:spcAft>
                <a:spcPts val="800"/>
              </a:spcAft>
            </a:pPr>
            <a:r>
              <a:rPr sz="1700" b="1">
                <a:solidFill>
                  <a:srgbClr val="1A1A1E"/>
                </a:solidFill>
                <a:latin typeface="Helvetica Neue"/>
              </a:rPr>
              <a:t>OpenDDE (AlphaFold3-class complex prediction)</a:t>
            </a:r>
          </a:p>
        </p:txBody>
      </p:sp>
      <p:sp>
        <p:nvSpPr>
          <p:cNvPr id="5" name="TextBox 4"/>
          <p:cNvSpPr txBox="1"/>
          <p:nvPr/>
        </p:nvSpPr>
        <p:spPr>
          <a:xfrm>
            <a:off x="640080" y="1847088"/>
            <a:ext cx="10881360" cy="822960"/>
          </a:xfrm>
          <a:prstGeom prst="rect">
            <a:avLst/>
          </a:prstGeom>
          <a:noFill/>
        </p:spPr>
        <p:txBody>
          <a:bodyPr wrap="square" lIns="0" rIns="0" tIns="0" bIns="0">
            <a:spAutoFit/>
          </a:bodyPr>
          <a:lstStyle/>
          <a:p>
            <a:pPr algn="l">
              <a:lnSpc>
                <a:spcPct val="120000"/>
              </a:lnSpc>
              <a:spcAft>
                <a:spcPts val="800"/>
              </a:spcAft>
            </a:pPr>
            <a:r>
              <a:rPr sz="1400" b="0">
                <a:solidFill>
                  <a:srgbClr val="62626E"/>
                </a:solidFill>
                <a:latin typeface="Helvetica Neue"/>
              </a:rPr>
              <a:t>Control: the same protein against a scrambled aptamer of identical length and base composition.  Scrambled scored HIGHER: interface pTM 0.676 vs 0.580, and higher on pLDDT, pTM and ranking score too.</a:t>
            </a:r>
          </a:p>
        </p:txBody>
      </p:sp>
      <p:sp>
        <p:nvSpPr>
          <p:cNvPr id="6" name="TextBox 5"/>
          <p:cNvSpPr txBox="1"/>
          <p:nvPr/>
        </p:nvSpPr>
        <p:spPr>
          <a:xfrm>
            <a:off x="640080" y="2761488"/>
            <a:ext cx="10881360" cy="274320"/>
          </a:xfrm>
          <a:prstGeom prst="rect">
            <a:avLst/>
          </a:prstGeom>
          <a:noFill/>
        </p:spPr>
        <p:txBody>
          <a:bodyPr wrap="square" lIns="0" rIns="0" tIns="0" bIns="0">
            <a:spAutoFit/>
          </a:bodyPr>
          <a:lstStyle/>
          <a:p>
            <a:pPr algn="l">
              <a:lnSpc>
                <a:spcPct val="100000"/>
              </a:lnSpc>
              <a:spcAft>
                <a:spcPts val="800"/>
              </a:spcAft>
            </a:pPr>
            <a:r>
              <a:rPr sz="1700" b="1">
                <a:solidFill>
                  <a:srgbClr val="1A1A1E"/>
                </a:solidFill>
                <a:latin typeface="Helvetica Neue"/>
              </a:rPr>
              <a:t>Evo2-7B (genome language model)</a:t>
            </a:r>
          </a:p>
        </p:txBody>
      </p:sp>
      <p:sp>
        <p:nvSpPr>
          <p:cNvPr id="7" name="TextBox 6"/>
          <p:cNvSpPr txBox="1"/>
          <p:nvPr/>
        </p:nvSpPr>
        <p:spPr>
          <a:xfrm>
            <a:off x="640080" y="3054096"/>
            <a:ext cx="10881360" cy="822960"/>
          </a:xfrm>
          <a:prstGeom prst="rect">
            <a:avLst/>
          </a:prstGeom>
          <a:noFill/>
        </p:spPr>
        <p:txBody>
          <a:bodyPr wrap="square" lIns="0" rIns="0" tIns="0" bIns="0">
            <a:spAutoFit/>
          </a:bodyPr>
          <a:lstStyle/>
          <a:p>
            <a:pPr algn="l">
              <a:lnSpc>
                <a:spcPct val="120000"/>
              </a:lnSpc>
              <a:spcAft>
                <a:spcPts val="800"/>
              </a:spcAft>
            </a:pPr>
            <a:r>
              <a:rPr sz="1400" b="0">
                <a:solidFill>
                  <a:srgbClr val="62626E"/>
                </a:solidFill>
                <a:latin typeface="Helvetica Neue"/>
              </a:rPr>
              <a:t>Control: six published aptamers, each against its own scramble.  Real scored lower in 4 of 6, mean perplexity difference -0.22; the effect is carried almost entirely by AS1411, a GGTGGTGGT repeat, and both clear losses are the non-repetitive sequences.</a:t>
            </a:r>
          </a:p>
        </p:txBody>
      </p:sp>
      <p:sp>
        <p:nvSpPr>
          <p:cNvPr id="8" name="TextBox 7"/>
          <p:cNvSpPr txBox="1"/>
          <p:nvPr/>
        </p:nvSpPr>
        <p:spPr>
          <a:xfrm>
            <a:off x="640080" y="3968496"/>
            <a:ext cx="10881360" cy="274320"/>
          </a:xfrm>
          <a:prstGeom prst="rect">
            <a:avLst/>
          </a:prstGeom>
          <a:noFill/>
        </p:spPr>
        <p:txBody>
          <a:bodyPr wrap="square" lIns="0" rIns="0" tIns="0" bIns="0">
            <a:spAutoFit/>
          </a:bodyPr>
          <a:lstStyle/>
          <a:p>
            <a:pPr algn="l">
              <a:lnSpc>
                <a:spcPct val="100000"/>
              </a:lnSpc>
              <a:spcAft>
                <a:spcPts val="800"/>
              </a:spcAft>
            </a:pPr>
            <a:r>
              <a:rPr sz="1700" b="1">
                <a:solidFill>
                  <a:srgbClr val="1A1A1E"/>
                </a:solidFill>
                <a:latin typeface="Helvetica Neue"/>
              </a:rPr>
              <a:t>surface electrostatics from an ESMFold2 structure</a:t>
            </a:r>
          </a:p>
        </p:txBody>
      </p:sp>
      <p:sp>
        <p:nvSpPr>
          <p:cNvPr id="9" name="TextBox 8"/>
          <p:cNvSpPr txBox="1"/>
          <p:nvPr/>
        </p:nvSpPr>
        <p:spPr>
          <a:xfrm>
            <a:off x="640080" y="4261104"/>
            <a:ext cx="10881360" cy="822960"/>
          </a:xfrm>
          <a:prstGeom prst="rect">
            <a:avLst/>
          </a:prstGeom>
          <a:noFill/>
        </p:spPr>
        <p:txBody>
          <a:bodyPr wrap="square" lIns="0" rIns="0" tIns="0" bIns="0">
            <a:spAutoFit/>
          </a:bodyPr>
          <a:lstStyle/>
          <a:p>
            <a:pPr algn="l">
              <a:lnSpc>
                <a:spcPct val="120000"/>
              </a:lnSpc>
              <a:spcAft>
                <a:spcPts val="800"/>
              </a:spcAft>
            </a:pPr>
            <a:r>
              <a:rPr sz="1400" b="0">
                <a:solidFill>
                  <a:srgbClr val="62626E"/>
                </a:solidFill>
                <a:latin typeface="Helvetica Neue"/>
              </a:rPr>
              <a:t>Control: proteins whose aptamers are textbook — nucleolin, thrombin, lysozyme.  IL-6 (+1.78) outranked lysozyme (+1.39), and lysozyme — net charge +8, pI about 11 — reports zero exposed basic residues.</a:t>
            </a:r>
          </a:p>
        </p:txBody>
      </p:sp>
      <p:sp>
        <p:nvSpPr>
          <p:cNvPr id="10" name="Rectangle 9"/>
          <p:cNvSpPr/>
          <p:nvPr/>
        </p:nvSpPr>
        <p:spPr>
          <a:xfrm>
            <a:off x="640080" y="5038344"/>
            <a:ext cx="10911535" cy="9525"/>
          </a:xfrm>
          <a:prstGeom prst="rect">
            <a:avLst/>
          </a:prstGeom>
          <a:solidFill>
            <a:srgbClr val="E4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266944"/>
            <a:ext cx="10881360" cy="914400"/>
          </a:xfrm>
          <a:prstGeom prst="rect">
            <a:avLst/>
          </a:prstGeom>
          <a:noFill/>
        </p:spPr>
        <p:txBody>
          <a:bodyPr wrap="square" lIns="0" rIns="0" tIns="0" bIns="0">
            <a:spAutoFit/>
          </a:bodyPr>
          <a:lstStyle/>
          <a:p>
            <a:pPr algn="l">
              <a:lnSpc>
                <a:spcPct val="125000"/>
              </a:lnSpc>
              <a:spcAft>
                <a:spcPts val="800"/>
              </a:spcAft>
            </a:pPr>
            <a:r>
              <a:rPr sz="1700" b="1">
                <a:solidFill>
                  <a:srgbClr val="1A1A1E"/>
                </a:solidFill>
                <a:latin typeface="Helvetica Neue"/>
              </a:rPr>
              <a:t>A tool that only reports what it used looks more certain than it is.</a:t>
            </a:r>
          </a:p>
          <a:p>
            <a:pPr algn="l">
              <a:lnSpc>
                <a:spcPct val="125000"/>
              </a:lnSpc>
              <a:spcAft>
                <a:spcPts val="800"/>
              </a:spcAft>
            </a:pPr>
            <a:r>
              <a:rPr sz="1400" b="0">
                <a:solidFill>
                  <a:srgbClr val="62626E"/>
                </a:solidFill>
                <a:latin typeface="Helvetica Neue"/>
              </a:rPr>
              <a:t>The dimer and fold energies the plate is filtered on were checked against Primer3's independent implementation: homodimer rank correlation 0.49–0.67 across plates, 0.81 on random DNA. Absolute values differ by ~6 kcal/mol because the parameter sets differ; the ordering, which is what the filter acts on, holds.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274320"/>
          </a:xfrm>
          <a:prstGeom prst="rect">
            <a:avLst/>
          </a:prstGeom>
          <a:noFill/>
        </p:spPr>
        <p:txBody>
          <a:bodyPr wrap="square" lIns="0" rIns="0" tIns="0" bIns="0">
            <a:spAutoFit/>
          </a:bodyPr>
          <a:lstStyle/>
          <a:p>
            <a:pPr algn="l">
              <a:lnSpc>
                <a:spcPct val="125000"/>
              </a:lnSpc>
              <a:spcAft>
                <a:spcPts val="800"/>
              </a:spcAft>
            </a:pPr>
            <a:r>
              <a:rPr sz="1200" b="1">
                <a:solidFill>
                  <a:srgbClr val="2F5CE5"/>
                </a:solidFill>
                <a:latin typeface="Helvetica Neue"/>
              </a:rPr>
              <a:t>LIMITS, STATED UP FRONT</a:t>
            </a:r>
          </a:p>
        </p:txBody>
      </p:sp>
      <p:sp>
        <p:nvSpPr>
          <p:cNvPr id="3" name="TextBox 2"/>
          <p:cNvSpPr txBox="1"/>
          <p:nvPr/>
        </p:nvSpPr>
        <p:spPr>
          <a:xfrm>
            <a:off x="640080" y="777240"/>
            <a:ext cx="10911535" cy="640080"/>
          </a:xfrm>
          <a:prstGeom prst="rect">
            <a:avLst/>
          </a:prstGeom>
          <a:noFill/>
        </p:spPr>
        <p:txBody>
          <a:bodyPr wrap="square" lIns="0" rIns="0" tIns="0" bIns="0">
            <a:spAutoFit/>
          </a:bodyPr>
          <a:lstStyle/>
          <a:p>
            <a:pPr algn="l">
              <a:lnSpc>
                <a:spcPct val="105000"/>
              </a:lnSpc>
              <a:spcAft>
                <a:spcPts val="800"/>
              </a:spcAft>
            </a:pPr>
            <a:r>
              <a:rPr sz="3000" b="1">
                <a:solidFill>
                  <a:srgbClr val="1A1A1E"/>
                </a:solidFill>
                <a:latin typeface="Helvetica Neue"/>
              </a:rPr>
              <a:t>What this does not do</a:t>
            </a:r>
          </a:p>
        </p:txBody>
      </p:sp>
      <p:sp>
        <p:nvSpPr>
          <p:cNvPr id="4" name="TextBox 3"/>
          <p:cNvSpPr txBox="1"/>
          <p:nvPr/>
        </p:nvSpPr>
        <p:spPr>
          <a:xfrm>
            <a:off x="640080" y="1554480"/>
            <a:ext cx="10881360" cy="3657600"/>
          </a:xfrm>
          <a:prstGeom prst="rect">
            <a:avLst/>
          </a:prstGeom>
          <a:noFill/>
        </p:spPr>
        <p:txBody>
          <a:bodyPr wrap="square" lIns="0" rIns="0" tIns="0" bIns="0">
            <a:spAutoFit/>
          </a:bodyPr>
          <a:lstStyle/>
          <a:p>
            <a:pPr algn="l">
              <a:lnSpc>
                <a:spcPct val="125000"/>
              </a:lnSpc>
              <a:spcAft>
                <a:spcPts val="800"/>
              </a:spcAft>
            </a:pPr>
            <a:r>
              <a:rPr sz="1800" b="0">
                <a:solidFill>
                  <a:srgbClr val="1A1A1E"/>
                </a:solidFill>
                <a:latin typeface="Helvetica Neue"/>
              </a:rPr>
              <a:t>It cannot invent an aptamer. Without a published parent there is nothing honest to build on, and the agent says so.</a:t>
            </a:r>
          </a:p>
          <a:p>
            <a:pPr algn="l">
              <a:lnSpc>
                <a:spcPct val="125000"/>
              </a:lnSpc>
              <a:spcAft>
                <a:spcPts val="800"/>
              </a:spcAft>
            </a:pPr>
            <a:r>
              <a:rPr sz="1800" b="0">
                <a:solidFill>
                  <a:srgbClr val="1A1A1E"/>
                </a:solidFill>
                <a:latin typeface="Helvetica Neue"/>
              </a:rPr>
              <a:t>It cannot predict affinity. Apparent Kd is computed only when a paper reports one for that exact sequence — usually none does, and the affinity figures are then omitted.</a:t>
            </a:r>
          </a:p>
          <a:p>
            <a:pPr algn="l">
              <a:lnSpc>
                <a:spcPct val="125000"/>
              </a:lnSpc>
              <a:spcAft>
                <a:spcPts val="800"/>
              </a:spcAft>
            </a:pPr>
            <a:r>
              <a:rPr sz="1800" b="0">
                <a:solidFill>
                  <a:srgbClr val="B45309"/>
                </a:solidFill>
                <a:latin typeface="Helvetica Neue"/>
              </a:rPr>
              <a:t>It cannot reach healthy baseline. IL-6 circulates at pg/mL and aptamer Kd values are nanomolar; switching costs affinity on top of that. This sensor class reaches sepsis and cytokine-release range, not routine monitoring — and the memo says so every time.</a:t>
            </a:r>
          </a:p>
          <a:p>
            <a:pPr algn="l">
              <a:lnSpc>
                <a:spcPct val="125000"/>
              </a:lnSpc>
              <a:spcAft>
                <a:spcPts val="800"/>
              </a:spcAft>
            </a:pPr>
            <a:r>
              <a:rPr sz="1800" b="0">
                <a:solidFill>
                  <a:srgbClr val="1A1A1E"/>
                </a:solidFill>
                <a:latin typeface="Helvetica Neue"/>
              </a:rPr>
              <a:t>The binding core remains an assumption. That is precisely why the deliverable is a hedged plate rather than a confident 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2103120"/>
            <a:ext cx="10515600" cy="1097280"/>
          </a:xfrm>
          <a:prstGeom prst="rect">
            <a:avLst/>
          </a:prstGeom>
          <a:noFill/>
        </p:spPr>
        <p:txBody>
          <a:bodyPr wrap="square" lIns="0" rIns="0" tIns="0" bIns="0">
            <a:spAutoFit/>
          </a:bodyPr>
          <a:lstStyle/>
          <a:p>
            <a:pPr algn="l">
              <a:lnSpc>
                <a:spcPct val="105000"/>
              </a:lnSpc>
              <a:spcAft>
                <a:spcPts val="800"/>
              </a:spcAft>
            </a:pPr>
            <a:r>
              <a:rPr sz="3800" b="1">
                <a:solidFill>
                  <a:srgbClr val="1A1A1E"/>
                </a:solidFill>
                <a:latin typeface="Helvetica Neue"/>
              </a:rPr>
              <a:t>96 wells, and an honest account of what they rest on</a:t>
            </a:r>
          </a:p>
        </p:txBody>
      </p:sp>
      <p:sp>
        <p:nvSpPr>
          <p:cNvPr id="3" name="Rectangle 2"/>
          <p:cNvSpPr/>
          <p:nvPr/>
        </p:nvSpPr>
        <p:spPr>
          <a:xfrm>
            <a:off x="640080" y="3566160"/>
            <a:ext cx="10911535" cy="9525"/>
          </a:xfrm>
          <a:prstGeom prst="rect">
            <a:avLst/>
          </a:prstGeom>
          <a:solidFill>
            <a:srgbClr val="E4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0"/>
            <a:ext cx="10515600" cy="1463040"/>
          </a:xfrm>
          <a:prstGeom prst="rect">
            <a:avLst/>
          </a:prstGeom>
          <a:noFill/>
        </p:spPr>
        <p:txBody>
          <a:bodyPr wrap="square" lIns="0" rIns="0" tIns="0" bIns="0">
            <a:spAutoFit/>
          </a:bodyPr>
          <a:lstStyle/>
          <a:p>
            <a:pPr algn="l">
              <a:lnSpc>
                <a:spcPct val="125000"/>
              </a:lnSpc>
              <a:spcAft>
                <a:spcPts val="800"/>
              </a:spcAft>
            </a:pPr>
            <a:r>
              <a:rPr sz="1800" b="0">
                <a:solidFill>
                  <a:srgbClr val="1A1A1E"/>
                </a:solidFill>
                <a:latin typeface="Helvetica Neue"/>
              </a:rPr>
              <a:t>Every run archives a manifest: the parent and its citation, the thresholds chosen, the assumption made, the commit that produced it. A reader deciding whether to spend a synthesis slot can see all of it.</a:t>
            </a:r>
          </a:p>
          <a:p>
            <a:pPr algn="l">
              <a:lnSpc>
                <a:spcPct val="125000"/>
              </a:lnSpc>
              <a:spcAft>
                <a:spcPts val="800"/>
              </a:spcAft>
            </a:pPr>
            <a:r>
              <a:rPr sz="1400" b="0">
                <a:solidFill>
                  <a:srgbClr val="62626E"/>
                </a:solidFill>
                <a:latin typeface="Helvetica Neue"/>
              </a:rPr>
              <a:t>Reproduced from commit 1f95840 · github.com/ascendbio/aptamer-switch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